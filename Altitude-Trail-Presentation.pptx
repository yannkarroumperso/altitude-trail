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C30"/>
        </a:solidFill>
      </p:bgPr>
    </p:bg>
    <p:spTree>
      <p:nvGrpSpPr>
        <p:cNvPr id="1" name=""/>
        <p:cNvGrpSpPr/>
        <p:nvPr/>
      </p:nvGrpSpPr>
      <p:grpSpPr>
        <a:xfrm>
          <a:off x="0" y="0"/>
          <a:ext cx="0" cy="0"/>
          <a:chOff x="0" y="0"/>
          <a:chExt cx="0" cy="0"/>
        </a:xfrm>
      </p:grpSpPr>
      <p:sp>
        <p:nvSpPr>
          <p:cNvPr id="2" name="Shape 0"/>
          <p:cNvSpPr/>
          <p:nvPr/>
        </p:nvSpPr>
        <p:spPr>
          <a:xfrm>
            <a:off x="640080" y="2103120"/>
            <a:ext cx="109728" cy="2560320"/>
          </a:xfrm>
          <a:prstGeom prst="rect">
            <a:avLst/>
          </a:prstGeom>
          <a:solidFill>
            <a:srgbClr val="FF4500"/>
          </a:solidFill>
          <a:ln w="12700">
            <a:solidFill>
              <a:srgbClr val="FF4500"/>
            </a:solidFill>
            <a:prstDash val="solid"/>
          </a:ln>
        </p:spPr>
      </p:sp>
      <p:sp>
        <p:nvSpPr>
          <p:cNvPr id="3" name="Text 1"/>
          <p:cNvSpPr/>
          <p:nvPr/>
        </p:nvSpPr>
        <p:spPr>
          <a:xfrm>
            <a:off x="1005840" y="1920240"/>
            <a:ext cx="9144000" cy="457200"/>
          </a:xfrm>
          <a:prstGeom prst="rect">
            <a:avLst/>
          </a:prstGeom>
          <a:noFill/>
          <a:ln/>
        </p:spPr>
        <p:txBody>
          <a:bodyPr wrap="square" rtlCol="0" anchor="ctr"/>
          <a:lstStyle/>
          <a:p>
            <a:pPr indent="0" marL="0">
              <a:buNone/>
            </a:pPr>
            <a:r>
              <a:rPr lang="en-US" sz="1400" b="1" spc="1000" kern="0" dirty="0">
                <a:solidFill>
                  <a:srgbClr val="FF4500"/>
                </a:solidFill>
                <a:latin typeface="Georgia" pitchFamily="34" charset="0"/>
                <a:ea typeface="Georgia" pitchFamily="34" charset="-122"/>
                <a:cs typeface="Georgia" pitchFamily="34" charset="-120"/>
              </a:rPr>
              <a:t>ALTITUDE TRAIL</a:t>
            </a:r>
            <a:endParaRPr lang="en-US" sz="1400" dirty="0"/>
          </a:p>
        </p:txBody>
      </p:sp>
      <p:sp>
        <p:nvSpPr>
          <p:cNvPr id="4" name="Text 2"/>
          <p:cNvSpPr/>
          <p:nvPr/>
        </p:nvSpPr>
        <p:spPr>
          <a:xfrm>
            <a:off x="1005840" y="2331720"/>
            <a:ext cx="10058400" cy="2011680"/>
          </a:xfrm>
          <a:prstGeom prst="rect">
            <a:avLst/>
          </a:prstGeom>
          <a:noFill/>
          <a:ln/>
        </p:spPr>
        <p:txBody>
          <a:bodyPr wrap="square"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Présentation technique</a:t>
            </a:r>
            <a:endParaRPr lang="en-US" sz="5600" dirty="0"/>
          </a:p>
          <a:p>
            <a:pPr indent="0" marL="0">
              <a:buNone/>
            </a:pPr>
            <a:r>
              <a:rPr lang="en-US" sz="5600" b="1" dirty="0">
                <a:solidFill>
                  <a:srgbClr val="FFFFFF"/>
                </a:solidFill>
                <a:latin typeface="Georgia" pitchFamily="34" charset="0"/>
                <a:ea typeface="Georgia" pitchFamily="34" charset="-122"/>
                <a:cs typeface="Georgia" pitchFamily="34" charset="-120"/>
              </a:rPr>
              <a:t>&amp; fonctionnelle</a:t>
            </a:r>
            <a:endParaRPr lang="en-US" sz="5600" dirty="0"/>
          </a:p>
        </p:txBody>
      </p:sp>
      <p:sp>
        <p:nvSpPr>
          <p:cNvPr id="5" name="Text 3"/>
          <p:cNvSpPr/>
          <p:nvPr/>
        </p:nvSpPr>
        <p:spPr>
          <a:xfrm>
            <a:off x="1005840" y="4480560"/>
            <a:ext cx="10058400" cy="548640"/>
          </a:xfrm>
          <a:prstGeom prst="rect">
            <a:avLst/>
          </a:prstGeom>
          <a:noFill/>
          <a:ln/>
        </p:spPr>
        <p:txBody>
          <a:bodyPr wrap="square" rtlCol="0" anchor="ctr"/>
          <a:lstStyle/>
          <a:p>
            <a:pPr indent="0" marL="0">
              <a:buNone/>
            </a:pPr>
            <a:r>
              <a:rPr lang="en-US" sz="1800" i="1" dirty="0">
                <a:solidFill>
                  <a:srgbClr val="B8C4D8"/>
                </a:solidFill>
                <a:latin typeface="Calibri" pitchFamily="34" charset="0"/>
                <a:ea typeface="Calibri" pitchFamily="34" charset="-122"/>
                <a:cs typeface="Calibri" pitchFamily="34" charset="-120"/>
              </a:rPr>
              <a:t>Site éditorial trail running • Pipelines automatisés • SEO avancé • Moteur d'entraînement personnalisé</a:t>
            </a:r>
            <a:endParaRPr lang="en-US" sz="1800" dirty="0"/>
          </a:p>
        </p:txBody>
      </p:sp>
      <p:sp>
        <p:nvSpPr>
          <p:cNvPr id="6" name="Text 4"/>
          <p:cNvSpPr/>
          <p:nvPr/>
        </p:nvSpPr>
        <p:spPr>
          <a:xfrm>
            <a:off x="1005840" y="5943600"/>
            <a:ext cx="9144000" cy="320040"/>
          </a:xfrm>
          <a:prstGeom prst="rect">
            <a:avLst/>
          </a:prstGeom>
          <a:noFill/>
          <a:ln/>
        </p:spPr>
        <p:txBody>
          <a:bodyPr wrap="square" rtlCol="0" anchor="ctr"/>
          <a:lstStyle/>
          <a:p>
            <a:pPr indent="0" marL="0">
              <a:buNone/>
            </a:pPr>
            <a:r>
              <a:rPr lang="en-US" sz="1200" spc="300" kern="0" dirty="0">
                <a:solidFill>
                  <a:srgbClr val="8A9BB5"/>
                </a:solidFill>
                <a:latin typeface="Calibri" pitchFamily="34" charset="0"/>
                <a:ea typeface="Calibri" pitchFamily="34" charset="-122"/>
                <a:cs typeface="Calibri" pitchFamily="34" charset="-120"/>
              </a:rPr>
              <a:t>Audience : DSI · Direction Digitale · Chef de projet</a:t>
            </a:r>
            <a:endParaRPr lang="en-US" sz="1200" dirty="0"/>
          </a:p>
        </p:txBody>
      </p:sp>
      <p:sp>
        <p:nvSpPr>
          <p:cNvPr id="7" name="Text 5"/>
          <p:cNvSpPr/>
          <p:nvPr/>
        </p:nvSpPr>
        <p:spPr>
          <a:xfrm>
            <a:off x="1005840" y="6263640"/>
            <a:ext cx="9144000" cy="274320"/>
          </a:xfrm>
          <a:prstGeom prst="rect">
            <a:avLst/>
          </a:prstGeom>
          <a:noFill/>
          <a:ln/>
        </p:spPr>
        <p:txBody>
          <a:bodyPr wrap="square" rtlCol="0" anchor="ctr"/>
          <a:lstStyle/>
          <a:p>
            <a:pPr indent="0" marL="0">
              <a:buNone/>
            </a:pPr>
            <a:r>
              <a:rPr lang="en-US" sz="1000" dirty="0">
                <a:solidFill>
                  <a:srgbClr val="8A9BB5"/>
                </a:solidFill>
                <a:latin typeface="Calibri" pitchFamily="34" charset="0"/>
                <a:ea typeface="Calibri" pitchFamily="34" charset="-122"/>
                <a:cs typeface="Calibri" pitchFamily="34" charset="-120"/>
              </a:rPr>
              <a:t>Avril 2026 · v1.0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4000" b="1" dirty="0">
                <a:solidFill>
                  <a:srgbClr val="0B1C30"/>
                </a:solidFill>
                <a:latin typeface="Georgia" pitchFamily="34" charset="0"/>
                <a:ea typeface="Georgia" pitchFamily="34" charset="-122"/>
                <a:cs typeface="Georgia" pitchFamily="34" charset="-120"/>
              </a:rPr>
              <a:t>Sommaire</a:t>
            </a:r>
            <a:endParaRPr lang="en-US" sz="4000" dirty="0"/>
          </a:p>
        </p:txBody>
      </p:sp>
      <p:sp>
        <p:nvSpPr>
          <p:cNvPr id="3" name="Shape 1"/>
          <p:cNvSpPr/>
          <p:nvPr/>
        </p:nvSpPr>
        <p:spPr>
          <a:xfrm>
            <a:off x="658368" y="1188720"/>
            <a:ext cx="548640" cy="73152"/>
          </a:xfrm>
          <a:prstGeom prst="rect">
            <a:avLst/>
          </a:prstGeom>
          <a:solidFill>
            <a:srgbClr val="FF4500"/>
          </a:solidFill>
          <a:ln w="12700">
            <a:solidFill>
              <a:srgbClr val="FF4500"/>
            </a:solidFill>
            <a:prstDash val="solid"/>
          </a:ln>
        </p:spPr>
      </p:sp>
      <p:sp>
        <p:nvSpPr>
          <p:cNvPr id="4" name="Text 2"/>
          <p:cNvSpPr/>
          <p:nvPr/>
        </p:nvSpPr>
        <p:spPr>
          <a:xfrm>
            <a:off x="731520" y="1645920"/>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01</a:t>
            </a:r>
            <a:endParaRPr lang="en-US" sz="3200" dirty="0"/>
          </a:p>
        </p:txBody>
      </p:sp>
      <p:sp>
        <p:nvSpPr>
          <p:cNvPr id="5" name="Text 3"/>
          <p:cNvSpPr/>
          <p:nvPr/>
        </p:nvSpPr>
        <p:spPr>
          <a:xfrm>
            <a:off x="1554480" y="1737360"/>
            <a:ext cx="411480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Contexte &amp; vision produit</a:t>
            </a:r>
            <a:endParaRPr lang="en-US" sz="1600" dirty="0"/>
          </a:p>
        </p:txBody>
      </p:sp>
      <p:sp>
        <p:nvSpPr>
          <p:cNvPr id="6" name="Text 4"/>
          <p:cNvSpPr/>
          <p:nvPr/>
        </p:nvSpPr>
        <p:spPr>
          <a:xfrm>
            <a:off x="731520" y="2359152"/>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02</a:t>
            </a:r>
            <a:endParaRPr lang="en-US" sz="3200" dirty="0"/>
          </a:p>
        </p:txBody>
      </p:sp>
      <p:sp>
        <p:nvSpPr>
          <p:cNvPr id="7" name="Text 5"/>
          <p:cNvSpPr/>
          <p:nvPr/>
        </p:nvSpPr>
        <p:spPr>
          <a:xfrm>
            <a:off x="1554480" y="2450592"/>
            <a:ext cx="411480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Architecture &amp; stack technique</a:t>
            </a:r>
            <a:endParaRPr lang="en-US" sz="1600" dirty="0"/>
          </a:p>
        </p:txBody>
      </p:sp>
      <p:sp>
        <p:nvSpPr>
          <p:cNvPr id="8" name="Text 6"/>
          <p:cNvSpPr/>
          <p:nvPr/>
        </p:nvSpPr>
        <p:spPr>
          <a:xfrm>
            <a:off x="731520" y="3072384"/>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03</a:t>
            </a:r>
            <a:endParaRPr lang="en-US" sz="3200" dirty="0"/>
          </a:p>
        </p:txBody>
      </p:sp>
      <p:sp>
        <p:nvSpPr>
          <p:cNvPr id="9" name="Text 7"/>
          <p:cNvSpPr/>
          <p:nvPr/>
        </p:nvSpPr>
        <p:spPr>
          <a:xfrm>
            <a:off x="1554480" y="3163824"/>
            <a:ext cx="411480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Pipeline éditorial — veille RSS</a:t>
            </a:r>
            <a:endParaRPr lang="en-US" sz="1600" dirty="0"/>
          </a:p>
        </p:txBody>
      </p:sp>
      <p:sp>
        <p:nvSpPr>
          <p:cNvPr id="10" name="Text 8"/>
          <p:cNvSpPr/>
          <p:nvPr/>
        </p:nvSpPr>
        <p:spPr>
          <a:xfrm>
            <a:off x="731520" y="3785616"/>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04</a:t>
            </a:r>
            <a:endParaRPr lang="en-US" sz="3200" dirty="0"/>
          </a:p>
        </p:txBody>
      </p:sp>
      <p:sp>
        <p:nvSpPr>
          <p:cNvPr id="11" name="Text 9"/>
          <p:cNvSpPr/>
          <p:nvPr/>
        </p:nvSpPr>
        <p:spPr>
          <a:xfrm>
            <a:off x="1554480" y="3877056"/>
            <a:ext cx="411480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Pipeline éditorial — veille Tavily &amp; live</a:t>
            </a:r>
            <a:endParaRPr lang="en-US" sz="1600" dirty="0"/>
          </a:p>
        </p:txBody>
      </p:sp>
      <p:sp>
        <p:nvSpPr>
          <p:cNvPr id="12" name="Text 10"/>
          <p:cNvSpPr/>
          <p:nvPr/>
        </p:nvSpPr>
        <p:spPr>
          <a:xfrm>
            <a:off x="731520" y="4498848"/>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05</a:t>
            </a:r>
            <a:endParaRPr lang="en-US" sz="3200" dirty="0"/>
          </a:p>
        </p:txBody>
      </p:sp>
      <p:sp>
        <p:nvSpPr>
          <p:cNvPr id="13" name="Text 11"/>
          <p:cNvSpPr/>
          <p:nvPr/>
        </p:nvSpPr>
        <p:spPr>
          <a:xfrm>
            <a:off x="1554480" y="4590288"/>
            <a:ext cx="411480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Données structurées JSON-LD</a:t>
            </a:r>
            <a:endParaRPr lang="en-US" sz="1600" dirty="0"/>
          </a:p>
        </p:txBody>
      </p:sp>
      <p:sp>
        <p:nvSpPr>
          <p:cNvPr id="14" name="Text 12"/>
          <p:cNvSpPr/>
          <p:nvPr/>
        </p:nvSpPr>
        <p:spPr>
          <a:xfrm>
            <a:off x="731520" y="5212080"/>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06</a:t>
            </a:r>
            <a:endParaRPr lang="en-US" sz="3200" dirty="0"/>
          </a:p>
        </p:txBody>
      </p:sp>
      <p:sp>
        <p:nvSpPr>
          <p:cNvPr id="15" name="Text 13"/>
          <p:cNvSpPr/>
          <p:nvPr/>
        </p:nvSpPr>
        <p:spPr>
          <a:xfrm>
            <a:off x="1554480" y="5303520"/>
            <a:ext cx="411480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Sitemaps, robots.txt &amp; IndexNow</a:t>
            </a:r>
            <a:endParaRPr lang="en-US" sz="1600" dirty="0"/>
          </a:p>
        </p:txBody>
      </p:sp>
      <p:sp>
        <p:nvSpPr>
          <p:cNvPr id="16" name="Text 14"/>
          <p:cNvSpPr/>
          <p:nvPr/>
        </p:nvSpPr>
        <p:spPr>
          <a:xfrm>
            <a:off x="6400800" y="1645920"/>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07</a:t>
            </a:r>
            <a:endParaRPr lang="en-US" sz="3200" dirty="0"/>
          </a:p>
        </p:txBody>
      </p:sp>
      <p:sp>
        <p:nvSpPr>
          <p:cNvPr id="17" name="Text 15"/>
          <p:cNvSpPr/>
          <p:nvPr/>
        </p:nvSpPr>
        <p:spPr>
          <a:xfrm>
            <a:off x="7223760" y="1737360"/>
            <a:ext cx="438912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Meta tags &amp; partages sociaux</a:t>
            </a:r>
            <a:endParaRPr lang="en-US" sz="1600" dirty="0"/>
          </a:p>
        </p:txBody>
      </p:sp>
      <p:sp>
        <p:nvSpPr>
          <p:cNvPr id="18" name="Text 16"/>
          <p:cNvSpPr/>
          <p:nvPr/>
        </p:nvSpPr>
        <p:spPr>
          <a:xfrm>
            <a:off x="6400800" y="2359152"/>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08</a:t>
            </a:r>
            <a:endParaRPr lang="en-US" sz="3200" dirty="0"/>
          </a:p>
        </p:txBody>
      </p:sp>
      <p:sp>
        <p:nvSpPr>
          <p:cNvPr id="19" name="Text 17"/>
          <p:cNvSpPr/>
          <p:nvPr/>
        </p:nvSpPr>
        <p:spPr>
          <a:xfrm>
            <a:off x="7223760" y="2450592"/>
            <a:ext cx="438912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Bots IA — opportunité stratégique</a:t>
            </a:r>
            <a:endParaRPr lang="en-US" sz="1600" dirty="0"/>
          </a:p>
        </p:txBody>
      </p:sp>
      <p:sp>
        <p:nvSpPr>
          <p:cNvPr id="20" name="Text 18"/>
          <p:cNvSpPr/>
          <p:nvPr/>
        </p:nvSpPr>
        <p:spPr>
          <a:xfrm>
            <a:off x="6400800" y="3072384"/>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09</a:t>
            </a:r>
            <a:endParaRPr lang="en-US" sz="3200" dirty="0"/>
          </a:p>
        </p:txBody>
      </p:sp>
      <p:sp>
        <p:nvSpPr>
          <p:cNvPr id="21" name="Text 19"/>
          <p:cNvSpPr/>
          <p:nvPr/>
        </p:nvSpPr>
        <p:spPr>
          <a:xfrm>
            <a:off x="7223760" y="3163824"/>
            <a:ext cx="438912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Google Search Console &amp; Publisher Center</a:t>
            </a:r>
            <a:endParaRPr lang="en-US" sz="1600" dirty="0"/>
          </a:p>
        </p:txBody>
      </p:sp>
      <p:sp>
        <p:nvSpPr>
          <p:cNvPr id="22" name="Text 20"/>
          <p:cNvSpPr/>
          <p:nvPr/>
        </p:nvSpPr>
        <p:spPr>
          <a:xfrm>
            <a:off x="6400800" y="3785616"/>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10</a:t>
            </a:r>
            <a:endParaRPr lang="en-US" sz="3200" dirty="0"/>
          </a:p>
        </p:txBody>
      </p:sp>
      <p:sp>
        <p:nvSpPr>
          <p:cNvPr id="23" name="Text 21"/>
          <p:cNvSpPr/>
          <p:nvPr/>
        </p:nvSpPr>
        <p:spPr>
          <a:xfrm>
            <a:off x="7223760" y="3877056"/>
            <a:ext cx="438912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SEO éditorial &amp; E-E-A-T</a:t>
            </a:r>
            <a:endParaRPr lang="en-US" sz="1600" dirty="0"/>
          </a:p>
        </p:txBody>
      </p:sp>
      <p:sp>
        <p:nvSpPr>
          <p:cNvPr id="24" name="Text 22"/>
          <p:cNvSpPr/>
          <p:nvPr/>
        </p:nvSpPr>
        <p:spPr>
          <a:xfrm>
            <a:off x="6400800" y="4498848"/>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11</a:t>
            </a:r>
            <a:endParaRPr lang="en-US" sz="3200" dirty="0"/>
          </a:p>
        </p:txBody>
      </p:sp>
      <p:sp>
        <p:nvSpPr>
          <p:cNvPr id="25" name="Text 23"/>
          <p:cNvSpPr/>
          <p:nvPr/>
        </p:nvSpPr>
        <p:spPr>
          <a:xfrm>
            <a:off x="7223760" y="4590288"/>
            <a:ext cx="438912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Moteur d'entraînement &amp; newsletter</a:t>
            </a:r>
            <a:endParaRPr lang="en-US" sz="1600" dirty="0"/>
          </a:p>
        </p:txBody>
      </p:sp>
      <p:sp>
        <p:nvSpPr>
          <p:cNvPr id="26" name="Text 24"/>
          <p:cNvSpPr/>
          <p:nvPr/>
        </p:nvSpPr>
        <p:spPr>
          <a:xfrm>
            <a:off x="6400800" y="5212080"/>
            <a:ext cx="731520" cy="457200"/>
          </a:xfrm>
          <a:prstGeom prst="rect">
            <a:avLst/>
          </a:prstGeom>
          <a:noFill/>
          <a:ln/>
        </p:spPr>
        <p:txBody>
          <a:bodyPr wrap="square" rtlCol="0" anchor="ctr"/>
          <a:lstStyle/>
          <a:p>
            <a:pPr indent="0" marL="0">
              <a:buNone/>
            </a:pPr>
            <a:r>
              <a:rPr lang="en-US" sz="3200" b="1" dirty="0">
                <a:solidFill>
                  <a:srgbClr val="FF4500"/>
                </a:solidFill>
                <a:latin typeface="Georgia" pitchFamily="34" charset="0"/>
                <a:ea typeface="Georgia" pitchFamily="34" charset="-122"/>
                <a:cs typeface="Georgia" pitchFamily="34" charset="-120"/>
              </a:rPr>
              <a:t>12</a:t>
            </a:r>
            <a:endParaRPr lang="en-US" sz="3200" dirty="0"/>
          </a:p>
        </p:txBody>
      </p:sp>
      <p:sp>
        <p:nvSpPr>
          <p:cNvPr id="27" name="Text 25"/>
          <p:cNvSpPr/>
          <p:nvPr/>
        </p:nvSpPr>
        <p:spPr>
          <a:xfrm>
            <a:off x="7223760" y="5303520"/>
            <a:ext cx="4389120" cy="365760"/>
          </a:xfrm>
          <a:prstGeom prst="rect">
            <a:avLst/>
          </a:prstGeom>
          <a:noFill/>
          <a:ln/>
        </p:spPr>
        <p:txBody>
          <a:bodyPr wrap="square" rtlCol="0" anchor="ctr"/>
          <a:lstStyle/>
          <a:p>
            <a:pPr indent="0" marL="0">
              <a:buNone/>
            </a:pPr>
            <a:r>
              <a:rPr lang="en-US" sz="1600" dirty="0">
                <a:solidFill>
                  <a:srgbClr val="0B1C30"/>
                </a:solidFill>
                <a:latin typeface="Calibri" pitchFamily="34" charset="0"/>
                <a:ea typeface="Calibri" pitchFamily="34" charset="-122"/>
                <a:cs typeface="Calibri" pitchFamily="34" charset="-120"/>
              </a:rPr>
              <a:t>Automatisations, coûts, gouvernance, roadmap</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01</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CONTEXTE &amp; VISION PRODUIT</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600" b="1" dirty="0">
                <a:solidFill>
                  <a:srgbClr val="0B1C30"/>
                </a:solidFill>
                <a:latin typeface="Georgia" pitchFamily="34" charset="0"/>
                <a:ea typeface="Georgia" pitchFamily="34" charset="-122"/>
                <a:cs typeface="Georgia" pitchFamily="34" charset="-120"/>
              </a:rPr>
              <a:t>Qu'est-ce qu'Altitude Trail</a:t>
            </a:r>
            <a:endParaRPr lang="en-US" sz="2600" dirty="0"/>
          </a:p>
        </p:txBody>
      </p:sp>
      <p:sp>
        <p:nvSpPr>
          <p:cNvPr id="6" name="Text 4"/>
          <p:cNvSpPr/>
          <p:nvPr/>
        </p:nvSpPr>
        <p:spPr>
          <a:xfrm>
            <a:off x="640080" y="1965960"/>
            <a:ext cx="10972800" cy="1097280"/>
          </a:xfrm>
          <a:prstGeom prst="rect">
            <a:avLst/>
          </a:prstGeom>
          <a:noFill/>
          <a:ln/>
        </p:spPr>
        <p:txBody>
          <a:bodyPr wrap="square" rtlCol="0" anchor="ctr"/>
          <a:lstStyle/>
          <a:p>
            <a:pPr indent="0" marL="0">
              <a:spcAft>
                <a:spcPts val="600"/>
              </a:spcAft>
              <a:buNone/>
            </a:pPr>
            <a:r>
              <a:rPr lang="en-US" sz="1400" dirty="0">
                <a:solidFill>
                  <a:srgbClr val="0B1C30"/>
                </a:solidFill>
                <a:latin typeface="Calibri" pitchFamily="34" charset="0"/>
                <a:ea typeface="Calibri" pitchFamily="34" charset="-122"/>
                <a:cs typeface="Calibri" pitchFamily="34" charset="-120"/>
              </a:rPr>
              <a:t>Magazine éditorial indépendant dédié au trail running et à l'ultra-endurance. Présent sur altitude-trail.fr, positionné comme média analytique francophone, couvrant l'actualité internationale (UTMB, Western States, Hardrock, Tor des Géants), la physiologie de l'endurance, la nutrition d'ultra et la prévention des blessures.</a:t>
            </a:r>
            <a:endParaRPr lang="en-US" sz="1400" dirty="0"/>
          </a:p>
        </p:txBody>
      </p:sp>
      <p:sp>
        <p:nvSpPr>
          <p:cNvPr id="7" name="Shape 5"/>
          <p:cNvSpPr/>
          <p:nvPr/>
        </p:nvSpPr>
        <p:spPr>
          <a:xfrm>
            <a:off x="640080" y="3383280"/>
            <a:ext cx="3566160" cy="2834640"/>
          </a:xfrm>
          <a:prstGeom prst="rect">
            <a:avLst/>
          </a:prstGeom>
          <a:solidFill>
            <a:srgbClr val="F8F9FF"/>
          </a:solidFill>
          <a:ln w="12700">
            <a:solidFill>
              <a:srgbClr val="E5EEFF"/>
            </a:solidFill>
            <a:prstDash val="solid"/>
          </a:ln>
        </p:spPr>
      </p:sp>
      <p:sp>
        <p:nvSpPr>
          <p:cNvPr id="8" name="Shape 6"/>
          <p:cNvSpPr/>
          <p:nvPr/>
        </p:nvSpPr>
        <p:spPr>
          <a:xfrm>
            <a:off x="640080" y="3383280"/>
            <a:ext cx="3566160" cy="109728"/>
          </a:xfrm>
          <a:prstGeom prst="rect">
            <a:avLst/>
          </a:prstGeom>
          <a:solidFill>
            <a:srgbClr val="FF4500"/>
          </a:solidFill>
          <a:ln w="12700">
            <a:solidFill>
              <a:srgbClr val="FF4500"/>
            </a:solidFill>
            <a:prstDash val="solid"/>
          </a:ln>
        </p:spPr>
      </p:sp>
      <p:pic>
        <p:nvPicPr>
          <p:cNvPr id="9" name="Image 0" descr="preencoded.png">    </p:cNvPr>
          <p:cNvPicPr>
            <a:picLocks noChangeAspect="1"/>
          </p:cNvPicPr>
          <p:nvPr/>
        </p:nvPicPr>
        <p:blipFill>
          <a:blip r:embed="rId1"/>
          <a:stretch>
            <a:fillRect/>
          </a:stretch>
        </p:blipFill>
        <p:spPr>
          <a:xfrm>
            <a:off x="914400" y="3703320"/>
            <a:ext cx="411480" cy="411480"/>
          </a:xfrm>
          <a:prstGeom prst="rect">
            <a:avLst/>
          </a:prstGeom>
        </p:spPr>
      </p:pic>
      <p:sp>
        <p:nvSpPr>
          <p:cNvPr id="10" name="Text 7"/>
          <p:cNvSpPr/>
          <p:nvPr/>
        </p:nvSpPr>
        <p:spPr>
          <a:xfrm>
            <a:off x="914400" y="4251960"/>
            <a:ext cx="3017520" cy="822960"/>
          </a:xfrm>
          <a:prstGeom prst="rect">
            <a:avLst/>
          </a:prstGeom>
          <a:noFill/>
          <a:ln/>
        </p:spPr>
        <p:txBody>
          <a:bodyPr wrap="square" rtlCol="0" anchor="ctr"/>
          <a:lstStyle/>
          <a:p>
            <a:pPr indent="0" marL="0">
              <a:buNone/>
            </a:pPr>
            <a:r>
              <a:rPr lang="en-US" sz="1600" b="1" dirty="0">
                <a:solidFill>
                  <a:srgbClr val="0B1C30"/>
                </a:solidFill>
                <a:latin typeface="Georgia" pitchFamily="34" charset="0"/>
                <a:ea typeface="Georgia" pitchFamily="34" charset="-122"/>
                <a:cs typeface="Georgia" pitchFamily="34" charset="-120"/>
              </a:rPr>
              <a:t>Production éditoriale automatisée</a:t>
            </a:r>
            <a:endParaRPr lang="en-US" sz="1600" dirty="0"/>
          </a:p>
        </p:txBody>
      </p:sp>
      <p:sp>
        <p:nvSpPr>
          <p:cNvPr id="11" name="Text 8"/>
          <p:cNvSpPr/>
          <p:nvPr/>
        </p:nvSpPr>
        <p:spPr>
          <a:xfrm>
            <a:off x="914400" y="5074920"/>
            <a:ext cx="3017520" cy="1005840"/>
          </a:xfrm>
          <a:prstGeom prst="rect">
            <a:avLst/>
          </a:prstGeom>
          <a:noFill/>
          <a:ln/>
        </p:spPr>
        <p:txBody>
          <a:bodyPr wrap="square" rtlCol="0" anchor="ctr"/>
          <a:lstStyle/>
          <a:p>
            <a:pPr indent="0" marL="0">
              <a:spcAft>
                <a:spcPts val="300"/>
              </a:spcAft>
              <a:buNone/>
            </a:pPr>
            <a:r>
              <a:rPr lang="en-US" sz="1100" dirty="0">
                <a:solidFill>
                  <a:srgbClr val="5A6A80"/>
                </a:solidFill>
                <a:latin typeface="Calibri" pitchFamily="34" charset="0"/>
                <a:ea typeface="Calibri" pitchFamily="34" charset="-122"/>
                <a:cs typeface="Calibri" pitchFamily="34" charset="-120"/>
              </a:rPr>
              <a:t>Pipelines de veille (RSS + Tavily) qui publient jusqu'à 5 articles par jour, avec cap dynamique à 10 pendant les événements majeurs. Relecture par un modèle de langage, images générées (FLUX), vidéos YouTube intégrées.</a:t>
            </a:r>
            <a:endParaRPr lang="en-US" sz="1100" dirty="0"/>
          </a:p>
        </p:txBody>
      </p:sp>
      <p:sp>
        <p:nvSpPr>
          <p:cNvPr id="12" name="Shape 9"/>
          <p:cNvSpPr/>
          <p:nvPr/>
        </p:nvSpPr>
        <p:spPr>
          <a:xfrm>
            <a:off x="4389120" y="3383280"/>
            <a:ext cx="3566160" cy="2834640"/>
          </a:xfrm>
          <a:prstGeom prst="rect">
            <a:avLst/>
          </a:prstGeom>
          <a:solidFill>
            <a:srgbClr val="F8F9FF"/>
          </a:solidFill>
          <a:ln w="12700">
            <a:solidFill>
              <a:srgbClr val="E5EEFF"/>
            </a:solidFill>
            <a:prstDash val="solid"/>
          </a:ln>
        </p:spPr>
      </p:sp>
      <p:sp>
        <p:nvSpPr>
          <p:cNvPr id="13" name="Shape 10"/>
          <p:cNvSpPr/>
          <p:nvPr/>
        </p:nvSpPr>
        <p:spPr>
          <a:xfrm>
            <a:off x="4389120" y="3383280"/>
            <a:ext cx="3566160" cy="109728"/>
          </a:xfrm>
          <a:prstGeom prst="rect">
            <a:avLst/>
          </a:prstGeom>
          <a:solidFill>
            <a:srgbClr val="FF4500"/>
          </a:solidFill>
          <a:ln w="12700">
            <a:solidFill>
              <a:srgbClr val="FF4500"/>
            </a:solidFill>
            <a:prstDash val="solid"/>
          </a:ln>
        </p:spPr>
      </p:sp>
      <p:pic>
        <p:nvPicPr>
          <p:cNvPr id="14" name="Image 1" descr="preencoded.png">    </p:cNvPr>
          <p:cNvPicPr>
            <a:picLocks noChangeAspect="1"/>
          </p:cNvPicPr>
          <p:nvPr/>
        </p:nvPicPr>
        <p:blipFill>
          <a:blip r:embed="rId2"/>
          <a:stretch>
            <a:fillRect/>
          </a:stretch>
        </p:blipFill>
        <p:spPr>
          <a:xfrm>
            <a:off x="4663440" y="3703320"/>
            <a:ext cx="411480" cy="411480"/>
          </a:xfrm>
          <a:prstGeom prst="rect">
            <a:avLst/>
          </a:prstGeom>
        </p:spPr>
      </p:pic>
      <p:sp>
        <p:nvSpPr>
          <p:cNvPr id="15" name="Text 11"/>
          <p:cNvSpPr/>
          <p:nvPr/>
        </p:nvSpPr>
        <p:spPr>
          <a:xfrm>
            <a:off x="4663440" y="4251960"/>
            <a:ext cx="3017520" cy="822960"/>
          </a:xfrm>
          <a:prstGeom prst="rect">
            <a:avLst/>
          </a:prstGeom>
          <a:noFill/>
          <a:ln/>
        </p:spPr>
        <p:txBody>
          <a:bodyPr wrap="square" rtlCol="0" anchor="ctr"/>
          <a:lstStyle/>
          <a:p>
            <a:pPr indent="0" marL="0">
              <a:buNone/>
            </a:pPr>
            <a:r>
              <a:rPr lang="en-US" sz="1600" b="1" dirty="0">
                <a:solidFill>
                  <a:srgbClr val="0B1C30"/>
                </a:solidFill>
                <a:latin typeface="Georgia" pitchFamily="34" charset="0"/>
                <a:ea typeface="Georgia" pitchFamily="34" charset="-122"/>
                <a:cs typeface="Georgia" pitchFamily="34" charset="-120"/>
              </a:rPr>
              <a:t>Outil à forte valeur</a:t>
            </a:r>
            <a:endParaRPr lang="en-US" sz="1600" dirty="0"/>
          </a:p>
        </p:txBody>
      </p:sp>
      <p:sp>
        <p:nvSpPr>
          <p:cNvPr id="16" name="Text 12"/>
          <p:cNvSpPr/>
          <p:nvPr/>
        </p:nvSpPr>
        <p:spPr>
          <a:xfrm>
            <a:off x="4663440" y="5074920"/>
            <a:ext cx="3017520" cy="1005840"/>
          </a:xfrm>
          <a:prstGeom prst="rect">
            <a:avLst/>
          </a:prstGeom>
          <a:noFill/>
          <a:ln/>
        </p:spPr>
        <p:txBody>
          <a:bodyPr wrap="square" rtlCol="0" anchor="ctr"/>
          <a:lstStyle/>
          <a:p>
            <a:pPr indent="0" marL="0">
              <a:spcAft>
                <a:spcPts val="300"/>
              </a:spcAft>
              <a:buNone/>
            </a:pPr>
            <a:r>
              <a:rPr lang="en-US" sz="1100" dirty="0">
                <a:solidFill>
                  <a:srgbClr val="5A6A80"/>
                </a:solidFill>
                <a:latin typeface="Calibri" pitchFamily="34" charset="0"/>
                <a:ea typeface="Calibri" pitchFamily="34" charset="-122"/>
                <a:cs typeface="Calibri" pitchFamily="34" charset="-120"/>
              </a:rPr>
              <a:t>Moteur d'entraînement personnalisé qui construit un plan semaine par semaine à partir d'un wizard en 4 étapes. Couplé à une base Supabase pour qualifier les utilisateurs et alimenter la newsletter.</a:t>
            </a:r>
            <a:endParaRPr lang="en-US" sz="1100" dirty="0"/>
          </a:p>
        </p:txBody>
      </p:sp>
      <p:sp>
        <p:nvSpPr>
          <p:cNvPr id="17" name="Shape 13"/>
          <p:cNvSpPr/>
          <p:nvPr/>
        </p:nvSpPr>
        <p:spPr>
          <a:xfrm>
            <a:off x="8138160" y="3383280"/>
            <a:ext cx="3566160" cy="2834640"/>
          </a:xfrm>
          <a:prstGeom prst="rect">
            <a:avLst/>
          </a:prstGeom>
          <a:solidFill>
            <a:srgbClr val="F8F9FF"/>
          </a:solidFill>
          <a:ln w="12700">
            <a:solidFill>
              <a:srgbClr val="E5EEFF"/>
            </a:solidFill>
            <a:prstDash val="solid"/>
          </a:ln>
        </p:spPr>
      </p:sp>
      <p:sp>
        <p:nvSpPr>
          <p:cNvPr id="18" name="Shape 14"/>
          <p:cNvSpPr/>
          <p:nvPr/>
        </p:nvSpPr>
        <p:spPr>
          <a:xfrm>
            <a:off x="8138160" y="3383280"/>
            <a:ext cx="3566160" cy="109728"/>
          </a:xfrm>
          <a:prstGeom prst="rect">
            <a:avLst/>
          </a:prstGeom>
          <a:solidFill>
            <a:srgbClr val="FF4500"/>
          </a:solidFill>
          <a:ln w="12700">
            <a:solidFill>
              <a:srgbClr val="FF4500"/>
            </a:solidFill>
            <a:prstDash val="solid"/>
          </a:ln>
        </p:spPr>
      </p:sp>
      <p:pic>
        <p:nvPicPr>
          <p:cNvPr id="19" name="Image 2" descr="preencoded.png">    </p:cNvPr>
          <p:cNvPicPr>
            <a:picLocks noChangeAspect="1"/>
          </p:cNvPicPr>
          <p:nvPr/>
        </p:nvPicPr>
        <p:blipFill>
          <a:blip r:embed="rId3"/>
          <a:stretch>
            <a:fillRect/>
          </a:stretch>
        </p:blipFill>
        <p:spPr>
          <a:xfrm>
            <a:off x="8412480" y="3703320"/>
            <a:ext cx="411480" cy="411480"/>
          </a:xfrm>
          <a:prstGeom prst="rect">
            <a:avLst/>
          </a:prstGeom>
        </p:spPr>
      </p:pic>
      <p:sp>
        <p:nvSpPr>
          <p:cNvPr id="20" name="Text 15"/>
          <p:cNvSpPr/>
          <p:nvPr/>
        </p:nvSpPr>
        <p:spPr>
          <a:xfrm>
            <a:off x="8412480" y="4251960"/>
            <a:ext cx="3017520" cy="822960"/>
          </a:xfrm>
          <a:prstGeom prst="rect">
            <a:avLst/>
          </a:prstGeom>
          <a:noFill/>
          <a:ln/>
        </p:spPr>
        <p:txBody>
          <a:bodyPr wrap="square" rtlCol="0" anchor="ctr"/>
          <a:lstStyle/>
          <a:p>
            <a:pPr indent="0" marL="0">
              <a:buNone/>
            </a:pPr>
            <a:r>
              <a:rPr lang="en-US" sz="1600" b="1" dirty="0">
                <a:solidFill>
                  <a:srgbClr val="0B1C30"/>
                </a:solidFill>
                <a:latin typeface="Georgia" pitchFamily="34" charset="0"/>
                <a:ea typeface="Georgia" pitchFamily="34" charset="-122"/>
                <a:cs typeface="Georgia" pitchFamily="34" charset="-120"/>
              </a:rPr>
              <a:t>SEO de niveau presse</a:t>
            </a:r>
            <a:endParaRPr lang="en-US" sz="1600" dirty="0"/>
          </a:p>
        </p:txBody>
      </p:sp>
      <p:sp>
        <p:nvSpPr>
          <p:cNvPr id="21" name="Text 16"/>
          <p:cNvSpPr/>
          <p:nvPr/>
        </p:nvSpPr>
        <p:spPr>
          <a:xfrm>
            <a:off x="8412480" y="5074920"/>
            <a:ext cx="3017520" cy="1005840"/>
          </a:xfrm>
          <a:prstGeom prst="rect">
            <a:avLst/>
          </a:prstGeom>
          <a:noFill/>
          <a:ln/>
        </p:spPr>
        <p:txBody>
          <a:bodyPr wrap="square" rtlCol="0" anchor="ctr"/>
          <a:lstStyle/>
          <a:p>
            <a:pPr indent="0" marL="0">
              <a:spcAft>
                <a:spcPts val="300"/>
              </a:spcAft>
              <a:buNone/>
            </a:pPr>
            <a:r>
              <a:rPr lang="en-US" sz="1100" dirty="0">
                <a:solidFill>
                  <a:srgbClr val="5A6A80"/>
                </a:solidFill>
                <a:latin typeface="Calibri" pitchFamily="34" charset="0"/>
                <a:ea typeface="Calibri" pitchFamily="34" charset="-122"/>
                <a:cs typeface="Calibri" pitchFamily="34" charset="-120"/>
              </a:rPr>
              <a:t>JSON-LD complet (12 types émis), sitemap enrichi + news-sitemap + image-sitemap, pillar pages, pagination optimisée, rapport PageSpeed hebdomadaire automatisé.</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02</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ARCHITECTURE &amp; STACK TECHNIQUE</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Vue d'ensemble du système</a:t>
            </a:r>
            <a:endParaRPr lang="en-US" sz="2400" dirty="0"/>
          </a:p>
        </p:txBody>
      </p:sp>
      <p:sp>
        <p:nvSpPr>
          <p:cNvPr id="6" name="Shape 4"/>
          <p:cNvSpPr/>
          <p:nvPr/>
        </p:nvSpPr>
        <p:spPr>
          <a:xfrm>
            <a:off x="640080" y="2103120"/>
            <a:ext cx="3657600" cy="4114800"/>
          </a:xfrm>
          <a:prstGeom prst="rect">
            <a:avLst/>
          </a:prstGeom>
          <a:solidFill>
            <a:srgbClr val="0B1C30"/>
          </a:solidFill>
          <a:ln w="12700">
            <a:solidFill>
              <a:srgbClr val="0B1C30"/>
            </a:solidFill>
            <a:prstDash val="solid"/>
          </a:ln>
        </p:spPr>
      </p:sp>
      <p:sp>
        <p:nvSpPr>
          <p:cNvPr id="7" name="Shape 5"/>
          <p:cNvSpPr/>
          <p:nvPr/>
        </p:nvSpPr>
        <p:spPr>
          <a:xfrm>
            <a:off x="640080" y="2103120"/>
            <a:ext cx="3657600" cy="73152"/>
          </a:xfrm>
          <a:prstGeom prst="rect">
            <a:avLst/>
          </a:prstGeom>
          <a:solidFill>
            <a:srgbClr val="FF4500"/>
          </a:solidFill>
          <a:ln w="12700">
            <a:solidFill>
              <a:srgbClr val="FF4500"/>
            </a:solidFill>
            <a:prstDash val="solid"/>
          </a:ln>
        </p:spPr>
      </p:sp>
      <p:sp>
        <p:nvSpPr>
          <p:cNvPr id="8" name="Text 6"/>
          <p:cNvSpPr/>
          <p:nvPr/>
        </p:nvSpPr>
        <p:spPr>
          <a:xfrm>
            <a:off x="914400" y="2377440"/>
            <a:ext cx="3108960" cy="457200"/>
          </a:xfrm>
          <a:prstGeom prst="rect">
            <a:avLst/>
          </a:prstGeom>
          <a:noFill/>
          <a:ln/>
        </p:spPr>
        <p:txBody>
          <a:bodyPr wrap="square" rtlCol="0" anchor="ctr"/>
          <a:lstStyle/>
          <a:p>
            <a:pPr indent="0" marL="0">
              <a:buNone/>
            </a:pPr>
            <a:r>
              <a:rPr lang="en-US" sz="1400" b="1" spc="400" kern="0" dirty="0">
                <a:solidFill>
                  <a:srgbClr val="FF4500"/>
                </a:solidFill>
                <a:latin typeface="Georgia" pitchFamily="34" charset="0"/>
                <a:ea typeface="Georgia" pitchFamily="34" charset="-122"/>
                <a:cs typeface="Georgia" pitchFamily="34" charset="-120"/>
              </a:rPr>
              <a:t>SOURCES &amp; APIs</a:t>
            </a:r>
            <a:endParaRPr lang="en-US" sz="1400" dirty="0"/>
          </a:p>
        </p:txBody>
      </p:sp>
      <p:sp>
        <p:nvSpPr>
          <p:cNvPr id="9" name="Text 7"/>
          <p:cNvSpPr/>
          <p:nvPr/>
        </p:nvSpPr>
        <p:spPr>
          <a:xfrm>
            <a:off x="914400" y="2971800"/>
            <a:ext cx="3108960" cy="3108960"/>
          </a:xfrm>
          <a:prstGeom prst="rect">
            <a:avLst/>
          </a:prstGeom>
          <a:noFill/>
          <a:ln/>
        </p:spPr>
        <p:txBody>
          <a:bodyPr wrap="square"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21 flux RSS trail internationaux</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Tavily Search (synthèse multi-sources)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YouTube Data API v3</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FLUX via fal.ai (images)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Google PageSpeed Insights API</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Anthropic Claude Sonnet 4.6</a:t>
            </a:r>
            <a:endParaRPr lang="en-US" sz="1200" dirty="0"/>
          </a:p>
        </p:txBody>
      </p:sp>
      <p:sp>
        <p:nvSpPr>
          <p:cNvPr id="10" name="Shape 8"/>
          <p:cNvSpPr/>
          <p:nvPr/>
        </p:nvSpPr>
        <p:spPr>
          <a:xfrm>
            <a:off x="4480560" y="2103120"/>
            <a:ext cx="3657600" cy="4114800"/>
          </a:xfrm>
          <a:prstGeom prst="rect">
            <a:avLst/>
          </a:prstGeom>
          <a:solidFill>
            <a:srgbClr val="0B1C30"/>
          </a:solidFill>
          <a:ln w="12700">
            <a:solidFill>
              <a:srgbClr val="0B1C30"/>
            </a:solidFill>
            <a:prstDash val="solid"/>
          </a:ln>
        </p:spPr>
      </p:sp>
      <p:sp>
        <p:nvSpPr>
          <p:cNvPr id="11" name="Shape 9"/>
          <p:cNvSpPr/>
          <p:nvPr/>
        </p:nvSpPr>
        <p:spPr>
          <a:xfrm>
            <a:off x="4480560" y="2103120"/>
            <a:ext cx="3657600" cy="73152"/>
          </a:xfrm>
          <a:prstGeom prst="rect">
            <a:avLst/>
          </a:prstGeom>
          <a:solidFill>
            <a:srgbClr val="FF4500"/>
          </a:solidFill>
          <a:ln w="12700">
            <a:solidFill>
              <a:srgbClr val="FF4500"/>
            </a:solidFill>
            <a:prstDash val="solid"/>
          </a:ln>
        </p:spPr>
      </p:sp>
      <p:sp>
        <p:nvSpPr>
          <p:cNvPr id="12" name="Text 10"/>
          <p:cNvSpPr/>
          <p:nvPr/>
        </p:nvSpPr>
        <p:spPr>
          <a:xfrm>
            <a:off x="4754880" y="2377440"/>
            <a:ext cx="3108960" cy="457200"/>
          </a:xfrm>
          <a:prstGeom prst="rect">
            <a:avLst/>
          </a:prstGeom>
          <a:noFill/>
          <a:ln/>
        </p:spPr>
        <p:txBody>
          <a:bodyPr wrap="square" rtlCol="0" anchor="ctr"/>
          <a:lstStyle/>
          <a:p>
            <a:pPr indent="0" marL="0">
              <a:buNone/>
            </a:pPr>
            <a:r>
              <a:rPr lang="en-US" sz="1400" b="1" spc="400" kern="0" dirty="0">
                <a:solidFill>
                  <a:srgbClr val="FF4500"/>
                </a:solidFill>
                <a:latin typeface="Georgia" pitchFamily="34" charset="0"/>
                <a:ea typeface="Georgia" pitchFamily="34" charset="-122"/>
                <a:cs typeface="Georgia" pitchFamily="34" charset="-120"/>
              </a:rPr>
              <a:t>PIPELINES AUTOMATISÉS</a:t>
            </a:r>
            <a:endParaRPr lang="en-US" sz="1400" dirty="0"/>
          </a:p>
        </p:txBody>
      </p:sp>
      <p:sp>
        <p:nvSpPr>
          <p:cNvPr id="13" name="Text 11"/>
          <p:cNvSpPr/>
          <p:nvPr/>
        </p:nvSpPr>
        <p:spPr>
          <a:xfrm>
            <a:off x="4754880" y="2971800"/>
            <a:ext cx="3108960" cy="3108960"/>
          </a:xfrm>
          <a:prstGeom prst="rect">
            <a:avLst/>
          </a:prstGeom>
          <a:noFill/>
          <a:ln/>
        </p:spPr>
        <p:txBody>
          <a:bodyPr wrap="square"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Veille RSS (3×/jour)</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Veille Tavily (4×/jour)</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Publication &amp; push auto</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Backfill SEO idempotent</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Rapport hebdo PageSpeed</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Détection articles vieillissants</a:t>
            </a:r>
            <a:endParaRPr lang="en-US" sz="1200" dirty="0"/>
          </a:p>
        </p:txBody>
      </p:sp>
      <p:sp>
        <p:nvSpPr>
          <p:cNvPr id="14" name="Shape 12"/>
          <p:cNvSpPr/>
          <p:nvPr/>
        </p:nvSpPr>
        <p:spPr>
          <a:xfrm>
            <a:off x="8321040" y="2103120"/>
            <a:ext cx="3657600" cy="4114800"/>
          </a:xfrm>
          <a:prstGeom prst="rect">
            <a:avLst/>
          </a:prstGeom>
          <a:solidFill>
            <a:srgbClr val="0B1C30"/>
          </a:solidFill>
          <a:ln w="12700">
            <a:solidFill>
              <a:srgbClr val="0B1C30"/>
            </a:solidFill>
            <a:prstDash val="solid"/>
          </a:ln>
        </p:spPr>
      </p:sp>
      <p:sp>
        <p:nvSpPr>
          <p:cNvPr id="15" name="Shape 13"/>
          <p:cNvSpPr/>
          <p:nvPr/>
        </p:nvSpPr>
        <p:spPr>
          <a:xfrm>
            <a:off x="8321040" y="2103120"/>
            <a:ext cx="3657600" cy="73152"/>
          </a:xfrm>
          <a:prstGeom prst="rect">
            <a:avLst/>
          </a:prstGeom>
          <a:solidFill>
            <a:srgbClr val="FF4500"/>
          </a:solidFill>
          <a:ln w="12700">
            <a:solidFill>
              <a:srgbClr val="FF4500"/>
            </a:solidFill>
            <a:prstDash val="solid"/>
          </a:ln>
        </p:spPr>
      </p:sp>
      <p:sp>
        <p:nvSpPr>
          <p:cNvPr id="16" name="Text 14"/>
          <p:cNvSpPr/>
          <p:nvPr/>
        </p:nvSpPr>
        <p:spPr>
          <a:xfrm>
            <a:off x="8595360" y="2377440"/>
            <a:ext cx="3108960" cy="457200"/>
          </a:xfrm>
          <a:prstGeom prst="rect">
            <a:avLst/>
          </a:prstGeom>
          <a:noFill/>
          <a:ln/>
        </p:spPr>
        <p:txBody>
          <a:bodyPr wrap="square" rtlCol="0" anchor="ctr"/>
          <a:lstStyle/>
          <a:p>
            <a:pPr indent="0" marL="0">
              <a:buNone/>
            </a:pPr>
            <a:r>
              <a:rPr lang="en-US" sz="1400" b="1" spc="400" kern="0" dirty="0">
                <a:solidFill>
                  <a:srgbClr val="FF4500"/>
                </a:solidFill>
                <a:latin typeface="Georgia" pitchFamily="34" charset="0"/>
                <a:ea typeface="Georgia" pitchFamily="34" charset="-122"/>
                <a:cs typeface="Georgia" pitchFamily="34" charset="-120"/>
              </a:rPr>
              <a:t>DELIVERY UTILISATEUR</a:t>
            </a:r>
            <a:endParaRPr lang="en-US" sz="1400" dirty="0"/>
          </a:p>
        </p:txBody>
      </p:sp>
      <p:sp>
        <p:nvSpPr>
          <p:cNvPr id="17" name="Text 15"/>
          <p:cNvSpPr/>
          <p:nvPr/>
        </p:nvSpPr>
        <p:spPr>
          <a:xfrm>
            <a:off x="8595360" y="2971800"/>
            <a:ext cx="3108960" cy="3108960"/>
          </a:xfrm>
          <a:prstGeom prst="rect">
            <a:avLst/>
          </a:prstGeom>
          <a:noFill/>
          <a:ln/>
        </p:spPr>
        <p:txBody>
          <a:bodyPr wrap="square"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Next.js 16 (App Router)</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Vercel (hébergement edge + ISR)</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Supabase (PostgreSQL managé)</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Resend (emails transactionnels)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Pages statiques régénérées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Domaine altitude-trail.fr</a:t>
            </a:r>
            <a:endParaRPr lang="en-US" sz="1200" dirty="0"/>
          </a:p>
        </p:txBody>
      </p:sp>
      <p:sp>
        <p:nvSpPr>
          <p:cNvPr id="18" name="Shape 16"/>
          <p:cNvSpPr/>
          <p:nvPr/>
        </p:nvSpPr>
        <p:spPr>
          <a:xfrm>
            <a:off x="4297680" y="4160520"/>
            <a:ext cx="182880" cy="0"/>
          </a:xfrm>
          <a:prstGeom prst="line">
            <a:avLst/>
          </a:prstGeom>
          <a:noFill/>
          <a:ln w="38100">
            <a:solidFill>
              <a:srgbClr val="FF4500"/>
            </a:solidFill>
            <a:prstDash val="solid"/>
            <a:tailEnd type="triangle"/>
          </a:ln>
        </p:spPr>
      </p:sp>
      <p:sp>
        <p:nvSpPr>
          <p:cNvPr id="19" name="Shape 17"/>
          <p:cNvSpPr/>
          <p:nvPr/>
        </p:nvSpPr>
        <p:spPr>
          <a:xfrm>
            <a:off x="8138160" y="4160520"/>
            <a:ext cx="182880" cy="0"/>
          </a:xfrm>
          <a:prstGeom prst="line">
            <a:avLst/>
          </a:prstGeom>
          <a:noFill/>
          <a:ln w="38100">
            <a:solidFill>
              <a:srgbClr val="FF4500"/>
            </a:solidFill>
            <a:prstDash val="solid"/>
            <a:tailEnd type="triangle"/>
          </a:ln>
        </p:spPr>
      </p:sp>
      <p:sp>
        <p:nvSpPr>
          <p:cNvPr id="20" name="Text 18"/>
          <p:cNvSpPr/>
          <p:nvPr/>
        </p:nvSpPr>
        <p:spPr>
          <a:xfrm>
            <a:off x="640080" y="6446520"/>
            <a:ext cx="10972800" cy="274320"/>
          </a:xfrm>
          <a:prstGeom prst="rect">
            <a:avLst/>
          </a:prstGeom>
          <a:noFill/>
          <a:ln/>
        </p:spPr>
        <p:txBody>
          <a:bodyPr wrap="square" rtlCol="0" anchor="ctr"/>
          <a:lstStyle/>
          <a:p>
            <a:pPr algn="ctr" indent="0" marL="0">
              <a:buNone/>
            </a:pPr>
            <a:r>
              <a:rPr lang="en-US" sz="1100" i="1" dirty="0">
                <a:solidFill>
                  <a:srgbClr val="5A6A80"/>
                </a:solidFill>
                <a:latin typeface="Calibri" pitchFamily="34" charset="0"/>
                <a:ea typeface="Calibri" pitchFamily="34" charset="-122"/>
                <a:cs typeface="Calibri" pitchFamily="34" charset="-120"/>
              </a:rPr>
              <a:t>Services transverses : GitHub Actions (crons + workflows) · Monitoring par email · Alerts via Resend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02</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STACK TECHNIQUE &amp; CHOIX</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Composants clés et justification</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881360" cy="914400"/>
        </p:xfrm>
        <a:graphic>
          <a:graphicData uri="http://schemas.openxmlformats.org/drawingml/2006/table">
            <a:tbl>
              <a:tblPr/>
              <a:tblGrid>
                <a:gridCol w="3200400"/>
                <a:gridCol w="7680960"/>
              </a:tblGrid>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Next.js 16 + App Router</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Framework React SSR/SSG hybride. Streaming, middlewares, ISR. Standard de fait pour site éditorial moderne.</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TypeScript strict</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Typage statique sur toute la codebase. Réduit les régressions lors de nouvelles features.</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Tailwind CSS 4</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Utility-first, zéro CSS custom. Design system cohérent sur 40+ composants.</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Vercel Pro (hosting)</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Edge functions, cron natif, previews par branch. Déploiement automatique sur push main.</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Supabase PostgreSQL</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DB managée avec service role + RLS possible. Tables users + plans. Backups natifs.</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Resend (emails)</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SMTP moderne avec DNS signé (DKIM/SPF/DMARC). 3000 envois gratuits/mois.</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GitHub Actions (cron)</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Planification des pipelines éditoriaux. Workflows YAML versionnés. Filet de sécurité via Vercel Cron.</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next/font (Google Fonts)</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Self-hosted au build, zéro round-trip fonts.googleapis.com, LCP préservé.</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200" b="1" dirty="0">
                          <a:solidFill>
                            <a:srgbClr val="0B1C30"/>
                          </a:solidFill>
                          <a:latin typeface="Calibri" pitchFamily="34" charset="0"/>
                          <a:ea typeface="Calibri" pitchFamily="34" charset="-122"/>
                          <a:cs typeface="Calibri" pitchFamily="34" charset="-120"/>
                        </a:rPr>
                        <a:t>Anthropic Claude Sonnet 4.6</a:t>
                      </a:r>
                      <a:endParaRPr lang="en-US" sz="12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c>
                  <a:txBody>
                    <a:bodyPr/>
                    <a:lstStyle/>
                    <a:p>
                      <a:pPr indent="0" marL="0">
                        <a:buNone/>
                      </a:pPr>
                      <a:r>
                        <a:rPr lang="en-US" sz="1100" dirty="0">
                          <a:solidFill>
                            <a:srgbClr val="5A6A80"/>
                          </a:solidFill>
                          <a:latin typeface="Calibri" pitchFamily="34" charset="0"/>
                          <a:ea typeface="Calibri" pitchFamily="34" charset="-122"/>
                          <a:cs typeface="Calibri" pitchFamily="34" charset="-120"/>
                        </a:rPr>
                        <a:t>Moteur de rédaction et de synthèse. Modèle le plus équilibré qualité/coût/latence pour éditorial long.</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8F9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03</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PIPELINE ÉDITORIAL — VEILLE RSS</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21 sources RSS parcourues 3 fois par jour</a:t>
            </a:r>
            <a:endParaRPr lang="en-US" sz="2400" dirty="0"/>
          </a:p>
        </p:txBody>
      </p:sp>
      <p:sp>
        <p:nvSpPr>
          <p:cNvPr id="6" name="Text 4"/>
          <p:cNvSpPr/>
          <p:nvPr/>
        </p:nvSpPr>
        <p:spPr>
          <a:xfrm>
            <a:off x="640080" y="1965960"/>
            <a:ext cx="5029200" cy="365760"/>
          </a:xfrm>
          <a:prstGeom prst="rect">
            <a:avLst/>
          </a:prstGeom>
          <a:noFill/>
          <a:ln/>
        </p:spPr>
        <p:txBody>
          <a:bodyPr wrap="square" rtlCol="0" anchor="ctr"/>
          <a:lstStyle/>
          <a:p>
            <a:pPr indent="0" marL="0">
              <a:buNone/>
            </a:pPr>
            <a:r>
              <a:rPr lang="en-US" sz="1300" b="1" spc="300" kern="0" dirty="0">
                <a:solidFill>
                  <a:srgbClr val="FF4500"/>
                </a:solidFill>
                <a:latin typeface="Calibri" pitchFamily="34" charset="0"/>
                <a:ea typeface="Calibri" pitchFamily="34" charset="-122"/>
                <a:cs typeface="Calibri" pitchFamily="34" charset="-120"/>
              </a:rPr>
              <a:t>Flux de traitement d'un article</a:t>
            </a:r>
            <a:endParaRPr lang="en-US" sz="1300" dirty="0"/>
          </a:p>
        </p:txBody>
      </p:sp>
      <p:sp>
        <p:nvSpPr>
          <p:cNvPr id="7" name="Shape 5"/>
          <p:cNvSpPr/>
          <p:nvPr/>
        </p:nvSpPr>
        <p:spPr>
          <a:xfrm>
            <a:off x="640080" y="2468880"/>
            <a:ext cx="457200" cy="457200"/>
          </a:xfrm>
          <a:prstGeom prst="ellipse">
            <a:avLst/>
          </a:prstGeom>
          <a:solidFill>
            <a:srgbClr val="FF4500"/>
          </a:solidFill>
          <a:ln w="12700">
            <a:solidFill>
              <a:srgbClr val="FF4500"/>
            </a:solidFill>
            <a:prstDash val="solid"/>
          </a:ln>
        </p:spPr>
      </p:sp>
      <p:sp>
        <p:nvSpPr>
          <p:cNvPr id="8" name="Text 6"/>
          <p:cNvSpPr/>
          <p:nvPr/>
        </p:nvSpPr>
        <p:spPr>
          <a:xfrm>
            <a:off x="640080" y="2487168"/>
            <a:ext cx="45720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9" name="Text 7"/>
          <p:cNvSpPr/>
          <p:nvPr/>
        </p:nvSpPr>
        <p:spPr>
          <a:xfrm>
            <a:off x="1234440" y="2468880"/>
            <a:ext cx="4389120" cy="274320"/>
          </a:xfrm>
          <a:prstGeom prst="rect">
            <a:avLst/>
          </a:prstGeom>
          <a:noFill/>
          <a:ln/>
        </p:spPr>
        <p:txBody>
          <a:bodyPr wrap="square" rtlCol="0" anchor="ctr"/>
          <a:lstStyle/>
          <a:p>
            <a:pPr indent="0" marL="0">
              <a:buNone/>
            </a:pPr>
            <a:r>
              <a:rPr lang="en-US" sz="1300" b="1" dirty="0">
                <a:solidFill>
                  <a:srgbClr val="0B1C30"/>
                </a:solidFill>
                <a:latin typeface="Calibri" pitchFamily="34" charset="0"/>
                <a:ea typeface="Calibri" pitchFamily="34" charset="-122"/>
                <a:cs typeface="Calibri" pitchFamily="34" charset="-120"/>
              </a:rPr>
              <a:t>Parsing RSS</a:t>
            </a:r>
            <a:endParaRPr lang="en-US" sz="1300" dirty="0"/>
          </a:p>
        </p:txBody>
      </p:sp>
      <p:sp>
        <p:nvSpPr>
          <p:cNvPr id="10" name="Text 8"/>
          <p:cNvSpPr/>
          <p:nvPr/>
        </p:nvSpPr>
        <p:spPr>
          <a:xfrm>
            <a:off x="1234440" y="2724912"/>
            <a:ext cx="4389120" cy="36576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21 flux FR/EN/IT (iRunFar, Trail Runner Mag, Le Pape, u-Trail...)</a:t>
            </a:r>
            <a:endParaRPr lang="en-US" sz="1000" dirty="0"/>
          </a:p>
        </p:txBody>
      </p:sp>
      <p:sp>
        <p:nvSpPr>
          <p:cNvPr id="11" name="Shape 9"/>
          <p:cNvSpPr/>
          <p:nvPr/>
        </p:nvSpPr>
        <p:spPr>
          <a:xfrm>
            <a:off x="640080" y="3090672"/>
            <a:ext cx="457200" cy="457200"/>
          </a:xfrm>
          <a:prstGeom prst="ellipse">
            <a:avLst/>
          </a:prstGeom>
          <a:solidFill>
            <a:srgbClr val="FF4500"/>
          </a:solidFill>
          <a:ln w="12700">
            <a:solidFill>
              <a:srgbClr val="FF4500"/>
            </a:solidFill>
            <a:prstDash val="solid"/>
          </a:ln>
        </p:spPr>
      </p:sp>
      <p:sp>
        <p:nvSpPr>
          <p:cNvPr id="12" name="Text 10"/>
          <p:cNvSpPr/>
          <p:nvPr/>
        </p:nvSpPr>
        <p:spPr>
          <a:xfrm>
            <a:off x="640080" y="3108960"/>
            <a:ext cx="45720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1234440" y="3090672"/>
            <a:ext cx="4389120" cy="274320"/>
          </a:xfrm>
          <a:prstGeom prst="rect">
            <a:avLst/>
          </a:prstGeom>
          <a:noFill/>
          <a:ln/>
        </p:spPr>
        <p:txBody>
          <a:bodyPr wrap="square" rtlCol="0" anchor="ctr"/>
          <a:lstStyle/>
          <a:p>
            <a:pPr indent="0" marL="0">
              <a:buNone/>
            </a:pPr>
            <a:r>
              <a:rPr lang="en-US" sz="1300" b="1" dirty="0">
                <a:solidFill>
                  <a:srgbClr val="0B1C30"/>
                </a:solidFill>
                <a:latin typeface="Calibri" pitchFamily="34" charset="0"/>
                <a:ea typeface="Calibri" pitchFamily="34" charset="-122"/>
                <a:cs typeface="Calibri" pitchFamily="34" charset="-120"/>
              </a:rPr>
              <a:t>Filtrage trail</a:t>
            </a:r>
            <a:endParaRPr lang="en-US" sz="1300" dirty="0"/>
          </a:p>
        </p:txBody>
      </p:sp>
      <p:sp>
        <p:nvSpPr>
          <p:cNvPr id="14" name="Text 12"/>
          <p:cNvSpPr/>
          <p:nvPr/>
        </p:nvSpPr>
        <p:spPr>
          <a:xfrm>
            <a:off x="1234440" y="3346704"/>
            <a:ext cx="4389120" cy="36576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Détection mots-clés trail/ultra/montagne. Skip sports US (NBA, NFL).</a:t>
            </a:r>
            <a:endParaRPr lang="en-US" sz="1000" dirty="0"/>
          </a:p>
        </p:txBody>
      </p:sp>
      <p:sp>
        <p:nvSpPr>
          <p:cNvPr id="15" name="Shape 13"/>
          <p:cNvSpPr/>
          <p:nvPr/>
        </p:nvSpPr>
        <p:spPr>
          <a:xfrm>
            <a:off x="640080" y="3712464"/>
            <a:ext cx="457200" cy="457200"/>
          </a:xfrm>
          <a:prstGeom prst="ellipse">
            <a:avLst/>
          </a:prstGeom>
          <a:solidFill>
            <a:srgbClr val="FF4500"/>
          </a:solidFill>
          <a:ln w="12700">
            <a:solidFill>
              <a:srgbClr val="FF4500"/>
            </a:solidFill>
            <a:prstDash val="solid"/>
          </a:ln>
        </p:spPr>
      </p:sp>
      <p:sp>
        <p:nvSpPr>
          <p:cNvPr id="16" name="Text 14"/>
          <p:cNvSpPr/>
          <p:nvPr/>
        </p:nvSpPr>
        <p:spPr>
          <a:xfrm>
            <a:off x="640080" y="3730752"/>
            <a:ext cx="45720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7" name="Text 15"/>
          <p:cNvSpPr/>
          <p:nvPr/>
        </p:nvSpPr>
        <p:spPr>
          <a:xfrm>
            <a:off x="1234440" y="3712464"/>
            <a:ext cx="4389120" cy="274320"/>
          </a:xfrm>
          <a:prstGeom prst="rect">
            <a:avLst/>
          </a:prstGeom>
          <a:noFill/>
          <a:ln/>
        </p:spPr>
        <p:txBody>
          <a:bodyPr wrap="square" rtlCol="0" anchor="ctr"/>
          <a:lstStyle/>
          <a:p>
            <a:pPr indent="0" marL="0">
              <a:buNone/>
            </a:pPr>
            <a:r>
              <a:rPr lang="en-US" sz="1300" b="1" dirty="0">
                <a:solidFill>
                  <a:srgbClr val="0B1C30"/>
                </a:solidFill>
                <a:latin typeface="Calibri" pitchFamily="34" charset="0"/>
                <a:ea typeface="Calibri" pitchFamily="34" charset="-122"/>
                <a:cs typeface="Calibri" pitchFamily="34" charset="-120"/>
              </a:rPr>
              <a:t>Réécriture Claude</a:t>
            </a:r>
            <a:endParaRPr lang="en-US" sz="1300" dirty="0"/>
          </a:p>
        </p:txBody>
      </p:sp>
      <p:sp>
        <p:nvSpPr>
          <p:cNvPr id="18" name="Text 16"/>
          <p:cNvSpPr/>
          <p:nvPr/>
        </p:nvSpPr>
        <p:spPr>
          <a:xfrm>
            <a:off x="1234440" y="3968496"/>
            <a:ext cx="4389120" cy="36576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Synthèse originale 1000-1200 mots, style éditorial, zéro copier-coller.</a:t>
            </a:r>
            <a:endParaRPr lang="en-US" sz="1000" dirty="0"/>
          </a:p>
        </p:txBody>
      </p:sp>
      <p:sp>
        <p:nvSpPr>
          <p:cNvPr id="19" name="Shape 17"/>
          <p:cNvSpPr/>
          <p:nvPr/>
        </p:nvSpPr>
        <p:spPr>
          <a:xfrm>
            <a:off x="640080" y="4334256"/>
            <a:ext cx="457200" cy="457200"/>
          </a:xfrm>
          <a:prstGeom prst="ellipse">
            <a:avLst/>
          </a:prstGeom>
          <a:solidFill>
            <a:srgbClr val="FF4500"/>
          </a:solidFill>
          <a:ln w="12700">
            <a:solidFill>
              <a:srgbClr val="FF4500"/>
            </a:solidFill>
            <a:prstDash val="solid"/>
          </a:ln>
        </p:spPr>
      </p:sp>
      <p:sp>
        <p:nvSpPr>
          <p:cNvPr id="20" name="Text 18"/>
          <p:cNvSpPr/>
          <p:nvPr/>
        </p:nvSpPr>
        <p:spPr>
          <a:xfrm>
            <a:off x="640080" y="4352544"/>
            <a:ext cx="45720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1" name="Text 19"/>
          <p:cNvSpPr/>
          <p:nvPr/>
        </p:nvSpPr>
        <p:spPr>
          <a:xfrm>
            <a:off x="1234440" y="4334256"/>
            <a:ext cx="4389120" cy="274320"/>
          </a:xfrm>
          <a:prstGeom prst="rect">
            <a:avLst/>
          </a:prstGeom>
          <a:noFill/>
          <a:ln/>
        </p:spPr>
        <p:txBody>
          <a:bodyPr wrap="square" rtlCol="0" anchor="ctr"/>
          <a:lstStyle/>
          <a:p>
            <a:pPr indent="0" marL="0">
              <a:buNone/>
            </a:pPr>
            <a:r>
              <a:rPr lang="en-US" sz="1300" b="1" dirty="0">
                <a:solidFill>
                  <a:srgbClr val="0B1C30"/>
                </a:solidFill>
                <a:latin typeface="Calibri" pitchFamily="34" charset="0"/>
                <a:ea typeface="Calibri" pitchFamily="34" charset="-122"/>
                <a:cs typeface="Calibri" pitchFamily="34" charset="-120"/>
              </a:rPr>
              <a:t>Images FLUX</a:t>
            </a:r>
            <a:endParaRPr lang="en-US" sz="1300" dirty="0"/>
          </a:p>
        </p:txBody>
      </p:sp>
      <p:sp>
        <p:nvSpPr>
          <p:cNvPr id="22" name="Text 20"/>
          <p:cNvSpPr/>
          <p:nvPr/>
        </p:nvSpPr>
        <p:spPr>
          <a:xfrm>
            <a:off x="1234440" y="4590288"/>
            <a:ext cx="4389120" cy="36576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2 images hero générées via fal.ai (prompts cinématiques).</a:t>
            </a:r>
            <a:endParaRPr lang="en-US" sz="1000" dirty="0"/>
          </a:p>
        </p:txBody>
      </p:sp>
      <p:sp>
        <p:nvSpPr>
          <p:cNvPr id="23" name="Shape 21"/>
          <p:cNvSpPr/>
          <p:nvPr/>
        </p:nvSpPr>
        <p:spPr>
          <a:xfrm>
            <a:off x="640080" y="4956048"/>
            <a:ext cx="457200" cy="457200"/>
          </a:xfrm>
          <a:prstGeom prst="ellipse">
            <a:avLst/>
          </a:prstGeom>
          <a:solidFill>
            <a:srgbClr val="FF4500"/>
          </a:solidFill>
          <a:ln w="12700">
            <a:solidFill>
              <a:srgbClr val="FF4500"/>
            </a:solidFill>
            <a:prstDash val="solid"/>
          </a:ln>
        </p:spPr>
      </p:sp>
      <p:sp>
        <p:nvSpPr>
          <p:cNvPr id="24" name="Text 22"/>
          <p:cNvSpPr/>
          <p:nvPr/>
        </p:nvSpPr>
        <p:spPr>
          <a:xfrm>
            <a:off x="640080" y="4974336"/>
            <a:ext cx="45720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25" name="Text 23"/>
          <p:cNvSpPr/>
          <p:nvPr/>
        </p:nvSpPr>
        <p:spPr>
          <a:xfrm>
            <a:off x="1234440" y="4956048"/>
            <a:ext cx="4389120" cy="274320"/>
          </a:xfrm>
          <a:prstGeom prst="rect">
            <a:avLst/>
          </a:prstGeom>
          <a:noFill/>
          <a:ln/>
        </p:spPr>
        <p:txBody>
          <a:bodyPr wrap="square" rtlCol="0" anchor="ctr"/>
          <a:lstStyle/>
          <a:p>
            <a:pPr indent="0" marL="0">
              <a:buNone/>
            </a:pPr>
            <a:r>
              <a:rPr lang="en-US" sz="1300" b="1" dirty="0">
                <a:solidFill>
                  <a:srgbClr val="0B1C30"/>
                </a:solidFill>
                <a:latin typeface="Calibri" pitchFamily="34" charset="0"/>
                <a:ea typeface="Calibri" pitchFamily="34" charset="-122"/>
                <a:cs typeface="Calibri" pitchFamily="34" charset="-120"/>
              </a:rPr>
              <a:t>Enrichissement</a:t>
            </a:r>
            <a:endParaRPr lang="en-US" sz="1300" dirty="0"/>
          </a:p>
        </p:txBody>
      </p:sp>
      <p:sp>
        <p:nvSpPr>
          <p:cNvPr id="26" name="Text 24"/>
          <p:cNvSpPr/>
          <p:nvPr/>
        </p:nvSpPr>
        <p:spPr>
          <a:xfrm>
            <a:off x="1234440" y="5212080"/>
            <a:ext cx="4389120" cy="36576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Auteur attribué 80/20, 2 liens internes, 2-4 sources externes validées HTTP, YouTube.</a:t>
            </a:r>
            <a:endParaRPr lang="en-US" sz="1000" dirty="0"/>
          </a:p>
        </p:txBody>
      </p:sp>
      <p:sp>
        <p:nvSpPr>
          <p:cNvPr id="27" name="Shape 25"/>
          <p:cNvSpPr/>
          <p:nvPr/>
        </p:nvSpPr>
        <p:spPr>
          <a:xfrm>
            <a:off x="640080" y="5577840"/>
            <a:ext cx="457200" cy="457200"/>
          </a:xfrm>
          <a:prstGeom prst="ellipse">
            <a:avLst/>
          </a:prstGeom>
          <a:solidFill>
            <a:srgbClr val="FF4500"/>
          </a:solidFill>
          <a:ln w="12700">
            <a:solidFill>
              <a:srgbClr val="FF4500"/>
            </a:solidFill>
            <a:prstDash val="solid"/>
          </a:ln>
        </p:spPr>
      </p:sp>
      <p:sp>
        <p:nvSpPr>
          <p:cNvPr id="28" name="Text 26"/>
          <p:cNvSpPr/>
          <p:nvPr/>
        </p:nvSpPr>
        <p:spPr>
          <a:xfrm>
            <a:off x="640080" y="5596128"/>
            <a:ext cx="45720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6</a:t>
            </a:r>
            <a:endParaRPr lang="en-US" sz="1800" dirty="0"/>
          </a:p>
        </p:txBody>
      </p:sp>
      <p:sp>
        <p:nvSpPr>
          <p:cNvPr id="29" name="Text 27"/>
          <p:cNvSpPr/>
          <p:nvPr/>
        </p:nvSpPr>
        <p:spPr>
          <a:xfrm>
            <a:off x="1234440" y="5577840"/>
            <a:ext cx="4389120" cy="274320"/>
          </a:xfrm>
          <a:prstGeom prst="rect">
            <a:avLst/>
          </a:prstGeom>
          <a:noFill/>
          <a:ln/>
        </p:spPr>
        <p:txBody>
          <a:bodyPr wrap="square" rtlCol="0" anchor="ctr"/>
          <a:lstStyle/>
          <a:p>
            <a:pPr indent="0" marL="0">
              <a:buNone/>
            </a:pPr>
            <a:r>
              <a:rPr lang="en-US" sz="1300" b="1" dirty="0">
                <a:solidFill>
                  <a:srgbClr val="0B1C30"/>
                </a:solidFill>
                <a:latin typeface="Calibri" pitchFamily="34" charset="0"/>
                <a:ea typeface="Calibri" pitchFamily="34" charset="-122"/>
                <a:cs typeface="Calibri" pitchFamily="34" charset="-120"/>
              </a:rPr>
              <a:t>Publication</a:t>
            </a:r>
            <a:endParaRPr lang="en-US" sz="1300" dirty="0"/>
          </a:p>
        </p:txBody>
      </p:sp>
      <p:sp>
        <p:nvSpPr>
          <p:cNvPr id="30" name="Text 28"/>
          <p:cNvSpPr/>
          <p:nvPr/>
        </p:nvSpPr>
        <p:spPr>
          <a:xfrm>
            <a:off x="1234440" y="5833872"/>
            <a:ext cx="4389120" cy="36576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Push Git auto, régénération data.ts, déploiement Vercel en 2 min.</a:t>
            </a:r>
            <a:endParaRPr lang="en-US" sz="1000" dirty="0"/>
          </a:p>
        </p:txBody>
      </p:sp>
      <p:sp>
        <p:nvSpPr>
          <p:cNvPr id="31" name="Shape 29"/>
          <p:cNvSpPr/>
          <p:nvPr/>
        </p:nvSpPr>
        <p:spPr>
          <a:xfrm>
            <a:off x="6400800" y="1965960"/>
            <a:ext cx="5212080" cy="4389120"/>
          </a:xfrm>
          <a:prstGeom prst="rect">
            <a:avLst/>
          </a:prstGeom>
          <a:solidFill>
            <a:srgbClr val="0B1C30"/>
          </a:solidFill>
          <a:ln w="12700">
            <a:solidFill>
              <a:srgbClr val="0B1C30"/>
            </a:solidFill>
            <a:prstDash val="solid"/>
          </a:ln>
        </p:spPr>
      </p:sp>
      <p:sp>
        <p:nvSpPr>
          <p:cNvPr id="32" name="Shape 30"/>
          <p:cNvSpPr/>
          <p:nvPr/>
        </p:nvSpPr>
        <p:spPr>
          <a:xfrm>
            <a:off x="6400800" y="1965960"/>
            <a:ext cx="5212080" cy="73152"/>
          </a:xfrm>
          <a:prstGeom prst="rect">
            <a:avLst/>
          </a:prstGeom>
          <a:solidFill>
            <a:srgbClr val="FF4500"/>
          </a:solidFill>
          <a:ln w="12700">
            <a:solidFill>
              <a:srgbClr val="FF4500"/>
            </a:solidFill>
            <a:prstDash val="solid"/>
          </a:ln>
        </p:spPr>
      </p:sp>
      <p:sp>
        <p:nvSpPr>
          <p:cNvPr id="33" name="Text 31"/>
          <p:cNvSpPr/>
          <p:nvPr/>
        </p:nvSpPr>
        <p:spPr>
          <a:xfrm>
            <a:off x="6675120" y="2194560"/>
            <a:ext cx="4663440" cy="365760"/>
          </a:xfrm>
          <a:prstGeom prst="rect">
            <a:avLst/>
          </a:prstGeom>
          <a:noFill/>
          <a:ln/>
        </p:spPr>
        <p:txBody>
          <a:bodyPr wrap="square" rtlCol="0" anchor="ctr"/>
          <a:lstStyle/>
          <a:p>
            <a:pPr indent="0" marL="0">
              <a:buNone/>
            </a:pPr>
            <a:r>
              <a:rPr lang="en-US" sz="1300" b="1" spc="400" kern="0" dirty="0">
                <a:solidFill>
                  <a:srgbClr val="FF4500"/>
                </a:solidFill>
                <a:latin typeface="Georgia" pitchFamily="34" charset="0"/>
                <a:ea typeface="Georgia" pitchFamily="34" charset="-122"/>
                <a:cs typeface="Georgia" pitchFamily="34" charset="-120"/>
              </a:rPr>
              <a:t>RÈGLES DE GESTION</a:t>
            </a:r>
            <a:endParaRPr lang="en-US" sz="1300" dirty="0"/>
          </a:p>
        </p:txBody>
      </p:sp>
      <p:sp>
        <p:nvSpPr>
          <p:cNvPr id="34" name="Text 32"/>
          <p:cNvSpPr/>
          <p:nvPr/>
        </p:nvSpPr>
        <p:spPr>
          <a:xfrm>
            <a:off x="6675120" y="2697480"/>
            <a:ext cx="4663440" cy="3520440"/>
          </a:xfrm>
          <a:prstGeom prst="rect">
            <a:avLst/>
          </a:prstGeom>
          <a:noFill/>
          <a:ln/>
        </p:spPr>
        <p:txBody>
          <a:bodyPr wrap="square" rtlCol="0" anchor="ctr"/>
          <a:lstStyle/>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Cap quotidien 5 articles/jour partagé avec Tavily (10 en mode hot event)</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Max 1 article produit par run (3 runs/jour)</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Hot horaires : 6h00, 11h30, 18h00 Paris (CEST+CET gérés)</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Déduplication par slug si l'article existe déjà</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Liens externes : whitelist de 30 domaines d'autorité + ping HTTP 200</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Maillage interne : 2 liens max vers articles les plus proches (tags + catégorie)</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Attribution d'auteur déterministe : 80% spécialiste, 20% polyvalent</a:t>
            </a:r>
            <a:endParaRPr lang="en-US" sz="1100" dirty="0"/>
          </a:p>
          <a:p>
            <a:pPr marL="342900" indent="-342900">
              <a:spcAft>
                <a:spcPts val="400"/>
              </a:spcAft>
              <a:buSzPct val="100000"/>
              <a:buChar char="•"/>
            </a:pPr>
            <a:r>
              <a:rPr lang="en-US" sz="1100" dirty="0">
                <a:solidFill>
                  <a:srgbClr val="FFFFFF"/>
                </a:solidFill>
                <a:latin typeface="Calibri" pitchFamily="34" charset="0"/>
                <a:ea typeface="Calibri" pitchFamily="34" charset="-122"/>
                <a:cs typeface="Calibri" pitchFamily="34" charset="-120"/>
              </a:rPr>
              <a:t>Email de notification à chaque exécution (succès, échec, volume)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04</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PIPELINE TAVILY &amp; COUVERTURE LIVE</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Synthèse multi-sources + boost événementiel</a:t>
            </a:r>
            <a:endParaRPr lang="en-US" sz="2400" dirty="0"/>
          </a:p>
        </p:txBody>
      </p:sp>
      <p:sp>
        <p:nvSpPr>
          <p:cNvPr id="6" name="Shape 4"/>
          <p:cNvSpPr/>
          <p:nvPr/>
        </p:nvSpPr>
        <p:spPr>
          <a:xfrm>
            <a:off x="640080" y="1965960"/>
            <a:ext cx="5394960" cy="4389120"/>
          </a:xfrm>
          <a:prstGeom prst="rect">
            <a:avLst/>
          </a:prstGeom>
          <a:solidFill>
            <a:srgbClr val="F8F9FF"/>
          </a:solidFill>
          <a:ln w="12700">
            <a:solidFill>
              <a:srgbClr val="E5EEFF"/>
            </a:solidFill>
            <a:prstDash val="solid"/>
          </a:ln>
        </p:spPr>
      </p:sp>
      <p:sp>
        <p:nvSpPr>
          <p:cNvPr id="7" name="Shape 5"/>
          <p:cNvSpPr/>
          <p:nvPr/>
        </p:nvSpPr>
        <p:spPr>
          <a:xfrm>
            <a:off x="640080" y="1965960"/>
            <a:ext cx="5394960" cy="73152"/>
          </a:xfrm>
          <a:prstGeom prst="rect">
            <a:avLst/>
          </a:prstGeom>
          <a:solidFill>
            <a:srgbClr val="FF4500"/>
          </a:solidFill>
          <a:ln w="12700">
            <a:solidFill>
              <a:srgbClr val="FF4500"/>
            </a:solidFill>
            <a:prstDash val="solid"/>
          </a:ln>
        </p:spPr>
      </p:sp>
      <p:sp>
        <p:nvSpPr>
          <p:cNvPr id="8" name="Text 6"/>
          <p:cNvSpPr/>
          <p:nvPr/>
        </p:nvSpPr>
        <p:spPr>
          <a:xfrm>
            <a:off x="914400" y="2176272"/>
            <a:ext cx="484632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TAVILY — SYNTHÈSE MULTI-SOURCES</a:t>
            </a:r>
            <a:endParaRPr lang="en-US" sz="1300" dirty="0"/>
          </a:p>
        </p:txBody>
      </p:sp>
      <p:sp>
        <p:nvSpPr>
          <p:cNvPr id="9" name="Text 7"/>
          <p:cNvSpPr/>
          <p:nvPr/>
        </p:nvSpPr>
        <p:spPr>
          <a:xfrm>
            <a:off x="914400" y="2606040"/>
            <a:ext cx="4846320" cy="1188720"/>
          </a:xfrm>
          <a:prstGeom prst="rect">
            <a:avLst/>
          </a:prstGeom>
          <a:noFill/>
          <a:ln/>
        </p:spPr>
        <p:txBody>
          <a:bodyPr wrap="square" rtlCol="0" anchor="ctr"/>
          <a:lstStyle/>
          <a:p>
            <a:pPr indent="0" marL="0">
              <a:spcAft>
                <a:spcPts val="400"/>
              </a:spcAft>
              <a:buNone/>
            </a:pPr>
            <a:r>
              <a:rPr lang="en-US" sz="1200" dirty="0">
                <a:solidFill>
                  <a:srgbClr val="0B1C30"/>
                </a:solidFill>
                <a:latin typeface="Calibri" pitchFamily="34" charset="0"/>
                <a:ea typeface="Calibri" pitchFamily="34" charset="-122"/>
                <a:cs typeface="Calibri" pitchFamily="34" charset="-120"/>
              </a:rPr>
              <a:t>Complète le flux RSS en remontant les sources les plus fraîches du web sur une thématique précise, dédupliquées et ré-ordonnées par pertinence pour alimenter un modèle de langage.</a:t>
            </a:r>
            <a:endParaRPr lang="en-US" sz="1200" dirty="0"/>
          </a:p>
        </p:txBody>
      </p:sp>
      <p:sp>
        <p:nvSpPr>
          <p:cNvPr id="10" name="Text 8"/>
          <p:cNvSpPr/>
          <p:nvPr/>
        </p:nvSpPr>
        <p:spPr>
          <a:xfrm>
            <a:off x="914400" y="3886200"/>
            <a:ext cx="4846320" cy="2286000"/>
          </a:xfrm>
          <a:prstGeom prst="rect">
            <a:avLst/>
          </a:prstGeom>
          <a:noFill/>
          <a:ln/>
        </p:spPr>
        <p:txBody>
          <a:bodyPr wrap="square" rtlCol="0" anchor="ctr"/>
          <a:lstStyle/>
          <a:p>
            <a:pPr marL="342900" indent="-342900">
              <a:spcAft>
                <a:spcPts val="400"/>
              </a:spcAft>
              <a:buSzPct val="100000"/>
              <a:buChar char="•"/>
            </a:pPr>
            <a:r>
              <a:rPr lang="en-US" sz="1100" dirty="0">
                <a:solidFill>
                  <a:srgbClr val="5A6A80"/>
                </a:solidFill>
                <a:latin typeface="Calibri" pitchFamily="34" charset="0"/>
                <a:ea typeface="Calibri" pitchFamily="34" charset="-122"/>
                <a:cs typeface="Calibri" pitchFamily="34" charset="-120"/>
              </a:rPr>
              <a:t>Banque de 20 requêtes thématiques rotatives (science, courses, équipement, portraits)</a:t>
            </a:r>
            <a:endParaRPr lang="en-US" sz="1100" dirty="0"/>
          </a:p>
          <a:p>
            <a:pPr marL="342900" indent="-342900">
              <a:spcAft>
                <a:spcPts val="400"/>
              </a:spcAft>
              <a:buSzPct val="100000"/>
              <a:buChar char="•"/>
            </a:pPr>
            <a:r>
              <a:rPr lang="en-US" sz="1100" dirty="0">
                <a:solidFill>
                  <a:srgbClr val="5A6A80"/>
                </a:solidFill>
                <a:latin typeface="Calibri" pitchFamily="34" charset="0"/>
                <a:ea typeface="Calibri" pitchFamily="34" charset="-122"/>
                <a:cs typeface="Calibri" pitchFamily="34" charset="-120"/>
              </a:rPr>
              <a:t>Tri Tavily + filtre trail-related + blacklist sports US</a:t>
            </a:r>
            <a:endParaRPr lang="en-US" sz="1100" dirty="0"/>
          </a:p>
          <a:p>
            <a:pPr marL="342900" indent="-342900">
              <a:spcAft>
                <a:spcPts val="400"/>
              </a:spcAft>
              <a:buSzPct val="100000"/>
              <a:buChar char="•"/>
            </a:pPr>
            <a:r>
              <a:rPr lang="en-US" sz="1100" dirty="0">
                <a:solidFill>
                  <a:srgbClr val="5A6A80"/>
                </a:solidFill>
                <a:latin typeface="Calibri" pitchFamily="34" charset="0"/>
                <a:ea typeface="Calibri" pitchFamily="34" charset="-122"/>
                <a:cs typeface="Calibri" pitchFamily="34" charset="-120"/>
              </a:rPr>
              <a:t>Claude reçoit 5-8 sources, rédige un article de synthèse original</a:t>
            </a:r>
            <a:endParaRPr lang="en-US" sz="1100" dirty="0"/>
          </a:p>
          <a:p>
            <a:pPr marL="342900" indent="-342900">
              <a:spcAft>
                <a:spcPts val="400"/>
              </a:spcAft>
              <a:buSzPct val="100000"/>
              <a:buChar char="•"/>
            </a:pPr>
            <a:r>
              <a:rPr lang="en-US" sz="1100" dirty="0">
                <a:solidFill>
                  <a:srgbClr val="5A6A80"/>
                </a:solidFill>
                <a:latin typeface="Calibri" pitchFamily="34" charset="0"/>
                <a:ea typeface="Calibri" pitchFamily="34" charset="-122"/>
                <a:cs typeface="Calibri" pitchFamily="34" charset="-120"/>
              </a:rPr>
              <a:t>2 à 4 refs externes issues uniquement des sources Tavily récupérées</a:t>
            </a:r>
            <a:endParaRPr lang="en-US" sz="1100" dirty="0"/>
          </a:p>
          <a:p>
            <a:pPr marL="342900" indent="-342900">
              <a:spcAft>
                <a:spcPts val="400"/>
              </a:spcAft>
              <a:buSzPct val="100000"/>
              <a:buChar char="•"/>
            </a:pPr>
            <a:r>
              <a:rPr lang="en-US" sz="1100" dirty="0">
                <a:solidFill>
                  <a:srgbClr val="5A6A80"/>
                </a:solidFill>
                <a:latin typeface="Calibri" pitchFamily="34" charset="0"/>
                <a:ea typeface="Calibri" pitchFamily="34" charset="-122"/>
                <a:cs typeface="Calibri" pitchFamily="34" charset="-120"/>
              </a:rPr>
              <a:t>4 runs par jour (8h15, 12h, 16h, 20h Paris)</a:t>
            </a:r>
            <a:endParaRPr lang="en-US" sz="1100" dirty="0"/>
          </a:p>
        </p:txBody>
      </p:sp>
      <p:sp>
        <p:nvSpPr>
          <p:cNvPr id="11" name="Shape 9"/>
          <p:cNvSpPr/>
          <p:nvPr/>
        </p:nvSpPr>
        <p:spPr>
          <a:xfrm>
            <a:off x="6309360" y="1965960"/>
            <a:ext cx="5303520" cy="4389120"/>
          </a:xfrm>
          <a:prstGeom prst="rect">
            <a:avLst/>
          </a:prstGeom>
          <a:solidFill>
            <a:srgbClr val="0B1C30"/>
          </a:solidFill>
          <a:ln w="12700">
            <a:solidFill>
              <a:srgbClr val="0B1C30"/>
            </a:solidFill>
            <a:prstDash val="solid"/>
          </a:ln>
        </p:spPr>
      </p:sp>
      <p:sp>
        <p:nvSpPr>
          <p:cNvPr id="12" name="Shape 10"/>
          <p:cNvSpPr/>
          <p:nvPr/>
        </p:nvSpPr>
        <p:spPr>
          <a:xfrm>
            <a:off x="6309360" y="1965960"/>
            <a:ext cx="5303520" cy="73152"/>
          </a:xfrm>
          <a:prstGeom prst="rect">
            <a:avLst/>
          </a:prstGeom>
          <a:solidFill>
            <a:srgbClr val="DC2626"/>
          </a:solidFill>
          <a:ln w="12700">
            <a:solidFill>
              <a:srgbClr val="DC2626"/>
            </a:solidFill>
            <a:prstDash val="solid"/>
          </a:ln>
        </p:spPr>
      </p:sp>
      <p:sp>
        <p:nvSpPr>
          <p:cNvPr id="13" name="Text 11"/>
          <p:cNvSpPr/>
          <p:nvPr/>
        </p:nvSpPr>
        <p:spPr>
          <a:xfrm>
            <a:off x="6583680" y="2176272"/>
            <a:ext cx="4754880" cy="365760"/>
          </a:xfrm>
          <a:prstGeom prst="rect">
            <a:avLst/>
          </a:prstGeom>
          <a:noFill/>
          <a:ln/>
        </p:spPr>
        <p:txBody>
          <a:bodyPr wrap="square" rtlCol="0" anchor="ctr"/>
          <a:lstStyle/>
          <a:p>
            <a:pPr indent="0" marL="0">
              <a:buNone/>
            </a:pPr>
            <a:r>
              <a:rPr lang="en-US" sz="1300" b="1" spc="300" kern="0" dirty="0">
                <a:solidFill>
                  <a:srgbClr val="F87171"/>
                </a:solidFill>
                <a:latin typeface="Georgia" pitchFamily="34" charset="0"/>
                <a:ea typeface="Georgia" pitchFamily="34" charset="-122"/>
                <a:cs typeface="Georgia" pitchFamily="34" charset="-120"/>
              </a:rPr>
              <a:t>MODE HOT EVENT — COUVERTURE LIVE</a:t>
            </a:r>
            <a:endParaRPr lang="en-US" sz="1300" dirty="0"/>
          </a:p>
        </p:txBody>
      </p:sp>
      <p:sp>
        <p:nvSpPr>
          <p:cNvPr id="14" name="Text 12"/>
          <p:cNvSpPr/>
          <p:nvPr/>
        </p:nvSpPr>
        <p:spPr>
          <a:xfrm>
            <a:off x="6583680" y="2606040"/>
            <a:ext cx="4754880" cy="1325880"/>
          </a:xfrm>
          <a:prstGeom prst="rect">
            <a:avLst/>
          </a:prstGeom>
          <a:noFill/>
          <a:ln/>
        </p:spPr>
        <p:txBody>
          <a:bodyPr wrap="square" rtlCol="0" anchor="ctr"/>
          <a:lstStyle/>
          <a:p>
            <a:pPr indent="0" marL="0">
              <a:spcAft>
                <a:spcPts val="400"/>
              </a:spcAft>
              <a:buNone/>
            </a:pPr>
            <a:r>
              <a:rPr lang="en-US" sz="1200" dirty="0">
                <a:solidFill>
                  <a:srgbClr val="E2E8F0"/>
                </a:solidFill>
                <a:latin typeface="Calibri" pitchFamily="34" charset="0"/>
                <a:ea typeface="Calibri" pitchFamily="34" charset="-122"/>
                <a:cs typeface="Calibri" pitchFamily="34" charset="-120"/>
              </a:rPr>
              <a:t>15 événements majeurs pré-programmés (UTMB, Western States, Hardrock, Tor des Géants, Diagonale des Fous, Lavaredo, Zegama...). Activation automatique 48h avant le départ, arrêt 72h après.</a:t>
            </a:r>
            <a:endParaRPr lang="en-US" sz="1200" dirty="0"/>
          </a:p>
        </p:txBody>
      </p:sp>
      <p:sp>
        <p:nvSpPr>
          <p:cNvPr id="15" name="Text 13"/>
          <p:cNvSpPr/>
          <p:nvPr/>
        </p:nvSpPr>
        <p:spPr>
          <a:xfrm>
            <a:off x="6583680" y="4023360"/>
            <a:ext cx="4754880" cy="2194560"/>
          </a:xfrm>
          <a:prstGeom prst="rect">
            <a:avLst/>
          </a:prstGeom>
          <a:noFill/>
          <a:ln/>
        </p:spPr>
        <p:txBody>
          <a:bodyPr wrap="square" rtlCol="0" anchor="ctr"/>
          <a:lstStyle/>
          <a:p>
            <a:pPr marL="342900" indent="-3429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Cap quotidien automatiquement porté à 10 articles/jour</a:t>
            </a:r>
            <a:endParaRPr lang="en-US" sz="1100" dirty="0"/>
          </a:p>
          <a:p>
            <a:pPr marL="342900" indent="-3429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Queries Tavily spécifiques à l'événement (ex : 'UTMB 2026 live results')</a:t>
            </a:r>
            <a:endParaRPr lang="en-US" sz="1100" dirty="0"/>
          </a:p>
          <a:p>
            <a:pPr marL="342900" indent="-3429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Jusqu'à 3 articles produits par run (au lieu de 1)</a:t>
            </a:r>
            <a:endParaRPr lang="en-US" sz="1100" dirty="0"/>
          </a:p>
          <a:p>
            <a:pPr marL="342900" indent="-3429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Articles taggés isLive + hotEventSlug en frontmatter</a:t>
            </a:r>
            <a:endParaRPr lang="en-US" sz="1100" dirty="0"/>
          </a:p>
          <a:p>
            <a:pPr marL="342900" indent="-342900">
              <a:spcAft>
                <a:spcPts val="400"/>
              </a:spcAft>
              <a:buSzPct val="100000"/>
              <a:buChar char="•"/>
            </a:pPr>
            <a:r>
              <a:rPr lang="en-US" sz="1100" dirty="0">
                <a:solidFill>
                  <a:srgbClr val="CBD5E1"/>
                </a:solidFill>
                <a:latin typeface="Calibri" pitchFamily="34" charset="0"/>
                <a:ea typeface="Calibri" pitchFamily="34" charset="-122"/>
                <a:cs typeface="Calibri" pitchFamily="34" charset="-120"/>
              </a:rPr>
              <a:t>Badge rouge LIVE animé sur les cartes d'article (48h post-publication)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05</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OPTIMISATIONS SEO TECHNIQUES</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200" b="1" dirty="0">
                <a:solidFill>
                  <a:srgbClr val="0B1C30"/>
                </a:solidFill>
                <a:latin typeface="Georgia" pitchFamily="34" charset="0"/>
                <a:ea typeface="Georgia" pitchFamily="34" charset="-122"/>
                <a:cs typeface="Georgia" pitchFamily="34" charset="-120"/>
              </a:rPr>
              <a:t>Infrastructure data-first au service des moteurs de recherche</a:t>
            </a:r>
            <a:endParaRPr lang="en-US" sz="2200" dirty="0"/>
          </a:p>
        </p:txBody>
      </p:sp>
      <p:sp>
        <p:nvSpPr>
          <p:cNvPr id="6" name="Shape 4"/>
          <p:cNvSpPr/>
          <p:nvPr/>
        </p:nvSpPr>
        <p:spPr>
          <a:xfrm>
            <a:off x="640080" y="2057400"/>
            <a:ext cx="5394960" cy="1920240"/>
          </a:xfrm>
          <a:prstGeom prst="rect">
            <a:avLst/>
          </a:prstGeom>
          <a:solidFill>
            <a:srgbClr val="F8F9FF"/>
          </a:solidFill>
          <a:ln w="12700">
            <a:solidFill>
              <a:srgbClr val="E5EEFF"/>
            </a:solidFill>
            <a:prstDash val="solid"/>
          </a:ln>
        </p:spPr>
      </p:sp>
      <p:sp>
        <p:nvSpPr>
          <p:cNvPr id="7" name="Shape 5"/>
          <p:cNvSpPr/>
          <p:nvPr/>
        </p:nvSpPr>
        <p:spPr>
          <a:xfrm>
            <a:off x="640080" y="2057400"/>
            <a:ext cx="109728" cy="1920240"/>
          </a:xfrm>
          <a:prstGeom prst="rect">
            <a:avLst/>
          </a:prstGeom>
          <a:solidFill>
            <a:srgbClr val="FF4500"/>
          </a:solidFill>
          <a:ln w="12700">
            <a:solidFill>
              <a:srgbClr val="FF4500"/>
            </a:solidFill>
            <a:prstDash val="solid"/>
          </a:ln>
        </p:spPr>
      </p:sp>
      <p:sp>
        <p:nvSpPr>
          <p:cNvPr id="8" name="Text 6"/>
          <p:cNvSpPr/>
          <p:nvPr/>
        </p:nvSpPr>
        <p:spPr>
          <a:xfrm>
            <a:off x="960120" y="224028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Données structurées JSON-LD</a:t>
            </a:r>
            <a:endParaRPr lang="en-US" sz="1500" dirty="0"/>
          </a:p>
        </p:txBody>
      </p:sp>
      <p:sp>
        <p:nvSpPr>
          <p:cNvPr id="9" name="Text 7"/>
          <p:cNvSpPr/>
          <p:nvPr/>
        </p:nvSpPr>
        <p:spPr>
          <a:xfrm>
            <a:off x="960120" y="2651760"/>
            <a:ext cx="4846320" cy="1280160"/>
          </a:xfrm>
          <a:prstGeom prst="rect">
            <a:avLst/>
          </a:prstGeom>
          <a:noFill/>
          <a:ln/>
        </p:spPr>
        <p:txBody>
          <a:bodyPr wrap="square" rtlCol="0" anchor="ctr"/>
          <a:lstStyle/>
          <a:p>
            <a:pPr indent="0" marL="0">
              <a:spcAft>
                <a:spcPts val="300"/>
              </a:spcAft>
              <a:buNone/>
            </a:pPr>
            <a:r>
              <a:rPr lang="en-US" sz="1100" dirty="0">
                <a:solidFill>
                  <a:srgbClr val="5A6A80"/>
                </a:solidFill>
                <a:latin typeface="Calibri" pitchFamily="34" charset="0"/>
                <a:ea typeface="Calibri" pitchFamily="34" charset="-122"/>
                <a:cs typeface="Calibri" pitchFamily="34" charset="-120"/>
              </a:rPr>
              <a:t>12 types émis : NewsArticle, Organization, WebSite, CollectionPage, ItemList, BreadcrumbList, FAQPage, HowTo, Person, SportsEvent, Review, AggregateRating. Test Rich Results : 4/4 sur pages clés.</a:t>
            </a:r>
            <a:endParaRPr lang="en-US" sz="1100" dirty="0"/>
          </a:p>
        </p:txBody>
      </p:sp>
      <p:sp>
        <p:nvSpPr>
          <p:cNvPr id="10" name="Shape 8"/>
          <p:cNvSpPr/>
          <p:nvPr/>
        </p:nvSpPr>
        <p:spPr>
          <a:xfrm>
            <a:off x="6309360" y="2057400"/>
            <a:ext cx="5394960" cy="1920240"/>
          </a:xfrm>
          <a:prstGeom prst="rect">
            <a:avLst/>
          </a:prstGeom>
          <a:solidFill>
            <a:srgbClr val="F8F9FF"/>
          </a:solidFill>
          <a:ln w="12700">
            <a:solidFill>
              <a:srgbClr val="E5EEFF"/>
            </a:solidFill>
            <a:prstDash val="solid"/>
          </a:ln>
        </p:spPr>
      </p:sp>
      <p:sp>
        <p:nvSpPr>
          <p:cNvPr id="11" name="Shape 9"/>
          <p:cNvSpPr/>
          <p:nvPr/>
        </p:nvSpPr>
        <p:spPr>
          <a:xfrm>
            <a:off x="6309360" y="2057400"/>
            <a:ext cx="109728" cy="1920240"/>
          </a:xfrm>
          <a:prstGeom prst="rect">
            <a:avLst/>
          </a:prstGeom>
          <a:solidFill>
            <a:srgbClr val="FF4500"/>
          </a:solidFill>
          <a:ln w="12700">
            <a:solidFill>
              <a:srgbClr val="FF4500"/>
            </a:solidFill>
            <a:prstDash val="solid"/>
          </a:ln>
        </p:spPr>
      </p:sp>
      <p:sp>
        <p:nvSpPr>
          <p:cNvPr id="12" name="Text 10"/>
          <p:cNvSpPr/>
          <p:nvPr/>
        </p:nvSpPr>
        <p:spPr>
          <a:xfrm>
            <a:off x="6629400" y="224028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Sitemaps &amp; discoverabilité</a:t>
            </a:r>
            <a:endParaRPr lang="en-US" sz="1500" dirty="0"/>
          </a:p>
        </p:txBody>
      </p:sp>
      <p:sp>
        <p:nvSpPr>
          <p:cNvPr id="13" name="Text 11"/>
          <p:cNvSpPr/>
          <p:nvPr/>
        </p:nvSpPr>
        <p:spPr>
          <a:xfrm>
            <a:off x="6629400" y="2651760"/>
            <a:ext cx="4846320" cy="1280160"/>
          </a:xfrm>
          <a:prstGeom prst="rect">
            <a:avLst/>
          </a:prstGeom>
          <a:noFill/>
          <a:ln/>
        </p:spPr>
        <p:txBody>
          <a:bodyPr wrap="square" rtlCol="0" anchor="ctr"/>
          <a:lstStyle/>
          <a:p>
            <a:pPr indent="0" marL="0">
              <a:spcAft>
                <a:spcPts val="300"/>
              </a:spcAft>
              <a:buNone/>
            </a:pPr>
            <a:r>
              <a:rPr lang="en-US" sz="1100" dirty="0">
                <a:solidFill>
                  <a:srgbClr val="5A6A80"/>
                </a:solidFill>
                <a:latin typeface="Calibri" pitchFamily="34" charset="0"/>
                <a:ea typeface="Calibri" pitchFamily="34" charset="-122"/>
                <a:cs typeface="Calibri" pitchFamily="34" charset="-120"/>
              </a:rPr>
              <a:t>sitemap.xml avec priorités dégressives par âge, news-sitemap.xml (articles &lt; 48h), image-sitemap.xml (Google Images), rss.xml. Indexés dans Search Console. Robots.txt autorise Googlebot + GPTBot + ClaudeBot + PerplexityBot.</a:t>
            </a:r>
            <a:endParaRPr lang="en-US" sz="1100" dirty="0"/>
          </a:p>
        </p:txBody>
      </p:sp>
      <p:sp>
        <p:nvSpPr>
          <p:cNvPr id="14" name="Shape 12"/>
          <p:cNvSpPr/>
          <p:nvPr/>
        </p:nvSpPr>
        <p:spPr>
          <a:xfrm>
            <a:off x="640080" y="4160520"/>
            <a:ext cx="5394960" cy="1920240"/>
          </a:xfrm>
          <a:prstGeom prst="rect">
            <a:avLst/>
          </a:prstGeom>
          <a:solidFill>
            <a:srgbClr val="F8F9FF"/>
          </a:solidFill>
          <a:ln w="12700">
            <a:solidFill>
              <a:srgbClr val="E5EEFF"/>
            </a:solidFill>
            <a:prstDash val="solid"/>
          </a:ln>
        </p:spPr>
      </p:sp>
      <p:sp>
        <p:nvSpPr>
          <p:cNvPr id="15" name="Shape 13"/>
          <p:cNvSpPr/>
          <p:nvPr/>
        </p:nvSpPr>
        <p:spPr>
          <a:xfrm>
            <a:off x="640080" y="4160520"/>
            <a:ext cx="109728" cy="1920240"/>
          </a:xfrm>
          <a:prstGeom prst="rect">
            <a:avLst/>
          </a:prstGeom>
          <a:solidFill>
            <a:srgbClr val="FF4500"/>
          </a:solidFill>
          <a:ln w="12700">
            <a:solidFill>
              <a:srgbClr val="FF4500"/>
            </a:solidFill>
            <a:prstDash val="solid"/>
          </a:ln>
        </p:spPr>
      </p:sp>
      <p:sp>
        <p:nvSpPr>
          <p:cNvPr id="16" name="Text 14"/>
          <p:cNvSpPr/>
          <p:nvPr/>
        </p:nvSpPr>
        <p:spPr>
          <a:xfrm>
            <a:off x="960120" y="434340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Core Web Vitals</a:t>
            </a:r>
            <a:endParaRPr lang="en-US" sz="1500" dirty="0"/>
          </a:p>
        </p:txBody>
      </p:sp>
      <p:sp>
        <p:nvSpPr>
          <p:cNvPr id="17" name="Text 15"/>
          <p:cNvSpPr/>
          <p:nvPr/>
        </p:nvSpPr>
        <p:spPr>
          <a:xfrm>
            <a:off x="960120" y="4754880"/>
            <a:ext cx="4846320" cy="1280160"/>
          </a:xfrm>
          <a:prstGeom prst="rect">
            <a:avLst/>
          </a:prstGeom>
          <a:noFill/>
          <a:ln/>
        </p:spPr>
        <p:txBody>
          <a:bodyPr wrap="square" rtlCol="0" anchor="ctr"/>
          <a:lstStyle/>
          <a:p>
            <a:pPr indent="0" marL="0">
              <a:spcAft>
                <a:spcPts val="300"/>
              </a:spcAft>
              <a:buNone/>
            </a:pPr>
            <a:r>
              <a:rPr lang="en-US" sz="1100" dirty="0">
                <a:solidFill>
                  <a:srgbClr val="5A6A80"/>
                </a:solidFill>
                <a:latin typeface="Calibri" pitchFamily="34" charset="0"/>
                <a:ea typeface="Calibri" pitchFamily="34" charset="-122"/>
                <a:cs typeface="Calibri" pitchFamily="34" charset="-120"/>
              </a:rPr>
              <a:t>next/font self-hosté (zéro round-trip Google Fonts). Images next/image avec priorité LCP. Pagination catégories (12 articles/page). opengraph-image.tsx dynamique côté Edge. Rapport PageSpeed hebdomadaire automatisé.</a:t>
            </a:r>
            <a:endParaRPr lang="en-US" sz="1100" dirty="0"/>
          </a:p>
        </p:txBody>
      </p:sp>
      <p:sp>
        <p:nvSpPr>
          <p:cNvPr id="18" name="Shape 16"/>
          <p:cNvSpPr/>
          <p:nvPr/>
        </p:nvSpPr>
        <p:spPr>
          <a:xfrm>
            <a:off x="6309360" y="4160520"/>
            <a:ext cx="5394960" cy="1920240"/>
          </a:xfrm>
          <a:prstGeom prst="rect">
            <a:avLst/>
          </a:prstGeom>
          <a:solidFill>
            <a:srgbClr val="F8F9FF"/>
          </a:solidFill>
          <a:ln w="12700">
            <a:solidFill>
              <a:srgbClr val="E5EEFF"/>
            </a:solidFill>
            <a:prstDash val="solid"/>
          </a:ln>
        </p:spPr>
      </p:sp>
      <p:sp>
        <p:nvSpPr>
          <p:cNvPr id="19" name="Shape 17"/>
          <p:cNvSpPr/>
          <p:nvPr/>
        </p:nvSpPr>
        <p:spPr>
          <a:xfrm>
            <a:off x="6309360" y="4160520"/>
            <a:ext cx="109728" cy="1920240"/>
          </a:xfrm>
          <a:prstGeom prst="rect">
            <a:avLst/>
          </a:prstGeom>
          <a:solidFill>
            <a:srgbClr val="FF4500"/>
          </a:solidFill>
          <a:ln w="12700">
            <a:solidFill>
              <a:srgbClr val="FF4500"/>
            </a:solidFill>
            <a:prstDash val="solid"/>
          </a:ln>
        </p:spPr>
      </p:sp>
      <p:sp>
        <p:nvSpPr>
          <p:cNvPr id="20" name="Text 18"/>
          <p:cNvSpPr/>
          <p:nvPr/>
        </p:nvSpPr>
        <p:spPr>
          <a:xfrm>
            <a:off x="6629400" y="434340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Maillage &amp; autorité</a:t>
            </a:r>
            <a:endParaRPr lang="en-US" sz="1500" dirty="0"/>
          </a:p>
        </p:txBody>
      </p:sp>
      <p:sp>
        <p:nvSpPr>
          <p:cNvPr id="21" name="Text 19"/>
          <p:cNvSpPr/>
          <p:nvPr/>
        </p:nvSpPr>
        <p:spPr>
          <a:xfrm>
            <a:off x="6629400" y="4754880"/>
            <a:ext cx="4846320" cy="1280160"/>
          </a:xfrm>
          <a:prstGeom prst="rect">
            <a:avLst/>
          </a:prstGeom>
          <a:noFill/>
          <a:ln/>
        </p:spPr>
        <p:txBody>
          <a:bodyPr wrap="square" rtlCol="0" anchor="ctr"/>
          <a:lstStyle/>
          <a:p>
            <a:pPr indent="0" marL="0">
              <a:spcAft>
                <a:spcPts val="300"/>
              </a:spcAft>
              <a:buNone/>
            </a:pPr>
            <a:r>
              <a:rPr lang="en-US" sz="1100" dirty="0">
                <a:solidFill>
                  <a:srgbClr val="5A6A80"/>
                </a:solidFill>
                <a:latin typeface="Calibri" pitchFamily="34" charset="0"/>
                <a:ea typeface="Calibri" pitchFamily="34" charset="-122"/>
                <a:cs typeface="Calibri" pitchFamily="34" charset="-120"/>
              </a:rPr>
              <a:t>Pagination crawlable des catégories, pillar page UTMB (5000 mots liée à 6 articles), page /lexique avec 40 termes, page /auteurs avec Person schema, redirect 301 sur /trouver-une-course pour éviter la cannibalisation.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05</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DONNÉES STRUCTURÉES JSON-LD</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12 types de schema.org émis sur le site</a:t>
            </a:r>
            <a:endParaRPr lang="en-US" sz="2400" dirty="0"/>
          </a:p>
        </p:txBody>
      </p:sp>
      <p:sp>
        <p:nvSpPr>
          <p:cNvPr id="6" name="Text 4"/>
          <p:cNvSpPr/>
          <p:nvPr/>
        </p:nvSpPr>
        <p:spPr>
          <a:xfrm>
            <a:off x="640080" y="1920240"/>
            <a:ext cx="10972800" cy="731520"/>
          </a:xfrm>
          <a:prstGeom prst="rect">
            <a:avLst/>
          </a:prstGeom>
          <a:noFill/>
          <a:ln/>
        </p:spPr>
        <p:txBody>
          <a:bodyPr wrap="square" rtlCol="0" anchor="ctr"/>
          <a:lstStyle/>
          <a:p>
            <a:pPr indent="0" marL="0">
              <a:spcAft>
                <a:spcPts val="400"/>
              </a:spcAft>
              <a:buNone/>
            </a:pPr>
            <a:r>
              <a:rPr lang="en-US" sz="1200" dirty="0">
                <a:solidFill>
                  <a:srgbClr val="5A6A80"/>
                </a:solidFill>
                <a:latin typeface="Calibri" pitchFamily="34" charset="0"/>
                <a:ea typeface="Calibri" pitchFamily="34" charset="-122"/>
                <a:cs typeface="Calibri" pitchFamily="34" charset="-120"/>
              </a:rPr>
              <a:t>Les données structurées permettent à Google (et aux autres moteurs) de comprendre le sens de chaque page et d'afficher des résultats enrichis (étoiles, FAQ dépliée, carrousel vidéo, fil d'Ariane). Tous les tests Rich Results Google passent en vert.</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97480"/>
          <a:ext cx="10972800" cy="914400"/>
        </p:xfrm>
        <a:graphic>
          <a:graphicData uri="http://schemas.openxmlformats.org/drawingml/2006/table">
            <a:tbl>
              <a:tblPr/>
              <a:tblGrid>
                <a:gridCol w="3840480"/>
                <a:gridCol w="7132320"/>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Type JSON-LD</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Où et pourquoi</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Organization (NewsMediaOrganization)</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Site-wide — identité éditeur, logo, langue, contact rédaction</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WebSite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Home — avec SearchAction pour intégration potentielle dans Google Search</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NewsArticle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Chaque article — headline ≤110 car., articleBody, speakable, thumbnailUrl, author Person, publisher, datePublished, dateModified</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BreadcrumbList</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Toutes les pages profondes — affichage fil d'Ariane dans SERP</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CollectionPage + ItemList</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Home + catégories + pages auteurs — carrousel articles Google</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FAQPage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Générateur, lexique, articles Q/R — FAQ dépliée dans SERP</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HowTo</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Moteur d'entraînement + pillar UTMB — étapes en carrousel Google</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Person</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Pages /auteurs/[slug] — fiche auteur enrichie, lien Knowledge Graph</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SportsEvent</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Chaque course — date, lieu, géo, sport, attendance mode</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Review + AggregateRating</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Chaque course — note 1-5 en étoiles dans SERP Google</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VideoObject</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Articles avec YouTube — indexation Google Vidéos</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74320">
                <a:tc>
                  <a:txBody>
                    <a:bodyPr/>
                    <a:lstStyle/>
                    <a:p>
                      <a:pPr indent="0" marL="0">
                        <a:buNone/>
                      </a:pPr>
                      <a:r>
                        <a:rPr lang="en-US" sz="1000" b="1" dirty="0">
                          <a:solidFill>
                            <a:srgbClr val="0B1C30"/>
                          </a:solidFill>
                          <a:latin typeface="Calibri" pitchFamily="34" charset="0"/>
                          <a:ea typeface="Calibri" pitchFamily="34" charset="-122"/>
                          <a:cs typeface="Calibri" pitchFamily="34" charset="-120"/>
                        </a:rPr>
                        <a:t>WebPage générique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À propos, contact, charte — fil d'Ariane + isPartOf WebSite</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bl>
          </a:graphicData>
        </a:graphic>
      </p:graphicFrame>
      <p:sp>
        <p:nvSpPr>
          <p:cNvPr id="8" name="Text 5"/>
          <p:cNvSpPr/>
          <p:nvPr/>
        </p:nvSpPr>
        <p:spPr>
          <a:xfrm>
            <a:off x="640080" y="6492240"/>
            <a:ext cx="10972800" cy="274320"/>
          </a:xfrm>
          <a:prstGeom prst="rect">
            <a:avLst/>
          </a:prstGeom>
          <a:noFill/>
          <a:ln/>
        </p:spPr>
        <p:txBody>
          <a:bodyPr wrap="square" rtlCol="0" anchor="ctr"/>
          <a:lstStyle/>
          <a:p>
            <a:pPr algn="ctr" indent="0" marL="0">
              <a:buNone/>
            </a:pPr>
            <a:r>
              <a:rPr lang="en-US" sz="1000" b="1" i="1" dirty="0">
                <a:solidFill>
                  <a:srgbClr val="FF4500"/>
                </a:solidFill>
                <a:latin typeface="Calibri" pitchFamily="34" charset="0"/>
                <a:ea typeface="Calibri" pitchFamily="34" charset="-122"/>
                <a:cs typeface="Calibri" pitchFamily="34" charset="-120"/>
              </a:rPr>
              <a:t>Validation : search.google.com/test/rich-results — 4/4 éléments détectés sans erreur sur toutes les pages clés.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06</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SITEMAPS, ROBOTS.TXT &amp; INDEXNOW</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Découvrabilité optimisée pour tous les crawlers</a:t>
            </a:r>
            <a:endParaRPr lang="en-US" sz="2400" dirty="0"/>
          </a:p>
        </p:txBody>
      </p:sp>
      <p:sp>
        <p:nvSpPr>
          <p:cNvPr id="6" name="Shape 4"/>
          <p:cNvSpPr/>
          <p:nvPr/>
        </p:nvSpPr>
        <p:spPr>
          <a:xfrm>
            <a:off x="640080" y="1965960"/>
            <a:ext cx="5486400" cy="4389120"/>
          </a:xfrm>
          <a:prstGeom prst="rect">
            <a:avLst/>
          </a:prstGeom>
          <a:solidFill>
            <a:srgbClr val="F8F9FF"/>
          </a:solidFill>
          <a:ln w="12700">
            <a:solidFill>
              <a:srgbClr val="E5EEFF"/>
            </a:solidFill>
            <a:prstDash val="solid"/>
          </a:ln>
        </p:spPr>
      </p:sp>
      <p:sp>
        <p:nvSpPr>
          <p:cNvPr id="7" name="Shape 5"/>
          <p:cNvSpPr/>
          <p:nvPr/>
        </p:nvSpPr>
        <p:spPr>
          <a:xfrm>
            <a:off x="640080" y="1965960"/>
            <a:ext cx="109728" cy="4389120"/>
          </a:xfrm>
          <a:prstGeom prst="rect">
            <a:avLst/>
          </a:prstGeom>
          <a:solidFill>
            <a:srgbClr val="FF4500"/>
          </a:solidFill>
          <a:ln w="12700">
            <a:solidFill>
              <a:srgbClr val="FF4500"/>
            </a:solidFill>
            <a:prstDash val="solid"/>
          </a:ln>
        </p:spPr>
      </p:sp>
      <p:sp>
        <p:nvSpPr>
          <p:cNvPr id="8" name="Text 6"/>
          <p:cNvSpPr/>
          <p:nvPr/>
        </p:nvSpPr>
        <p:spPr>
          <a:xfrm>
            <a:off x="914400" y="2176272"/>
            <a:ext cx="502920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4 SITEMAPS EMBARQUÉS</a:t>
            </a:r>
            <a:endParaRPr lang="en-US" sz="1300" dirty="0"/>
          </a:p>
        </p:txBody>
      </p:sp>
      <p:sp>
        <p:nvSpPr>
          <p:cNvPr id="9" name="Text 7"/>
          <p:cNvSpPr/>
          <p:nvPr/>
        </p:nvSpPr>
        <p:spPr>
          <a:xfrm>
            <a:off x="914400" y="2697480"/>
            <a:ext cx="5029200" cy="274320"/>
          </a:xfrm>
          <a:prstGeom prst="rect">
            <a:avLst/>
          </a:prstGeom>
          <a:noFill/>
          <a:ln/>
        </p:spPr>
        <p:txBody>
          <a:bodyPr wrap="square" rtlCol="0" anchor="ctr"/>
          <a:lstStyle/>
          <a:p>
            <a:pPr indent="0" marL="0">
              <a:buNone/>
            </a:pPr>
            <a:r>
              <a:rPr lang="en-US" sz="1200" b="1" dirty="0">
                <a:solidFill>
                  <a:srgbClr val="0B1C30"/>
                </a:solidFill>
                <a:latin typeface="Georgia" pitchFamily="34" charset="0"/>
                <a:ea typeface="Georgia" pitchFamily="34" charset="-122"/>
                <a:cs typeface="Georgia" pitchFamily="34" charset="-120"/>
              </a:rPr>
              <a:t>sitemap.xml</a:t>
            </a:r>
            <a:endParaRPr lang="en-US" sz="1200" dirty="0"/>
          </a:p>
        </p:txBody>
      </p:sp>
      <p:sp>
        <p:nvSpPr>
          <p:cNvPr id="10" name="Text 8"/>
          <p:cNvSpPr/>
          <p:nvPr/>
        </p:nvSpPr>
        <p:spPr>
          <a:xfrm>
            <a:off x="914400" y="2971800"/>
            <a:ext cx="5029200" cy="50292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Toutes les URLs. Priorités dégressives par âge : 0.9 (&lt;2j) → 0.4 (&gt;90j). changeFrequency adaptative.</a:t>
            </a:r>
            <a:endParaRPr lang="en-US" sz="1000" dirty="0"/>
          </a:p>
        </p:txBody>
      </p:sp>
      <p:sp>
        <p:nvSpPr>
          <p:cNvPr id="11" name="Text 9"/>
          <p:cNvSpPr/>
          <p:nvPr/>
        </p:nvSpPr>
        <p:spPr>
          <a:xfrm>
            <a:off x="914400" y="3566160"/>
            <a:ext cx="5029200" cy="274320"/>
          </a:xfrm>
          <a:prstGeom prst="rect">
            <a:avLst/>
          </a:prstGeom>
          <a:noFill/>
          <a:ln/>
        </p:spPr>
        <p:txBody>
          <a:bodyPr wrap="square" rtlCol="0" anchor="ctr"/>
          <a:lstStyle/>
          <a:p>
            <a:pPr indent="0" marL="0">
              <a:buNone/>
            </a:pPr>
            <a:r>
              <a:rPr lang="en-US" sz="1200" b="1" dirty="0">
                <a:solidFill>
                  <a:srgbClr val="0B1C30"/>
                </a:solidFill>
                <a:latin typeface="Georgia" pitchFamily="34" charset="0"/>
                <a:ea typeface="Georgia" pitchFamily="34" charset="-122"/>
                <a:cs typeface="Georgia" pitchFamily="34" charset="-120"/>
              </a:rPr>
              <a:t>news-sitemap.xml</a:t>
            </a:r>
            <a:endParaRPr lang="en-US" sz="1200" dirty="0"/>
          </a:p>
        </p:txBody>
      </p:sp>
      <p:sp>
        <p:nvSpPr>
          <p:cNvPr id="12" name="Text 10"/>
          <p:cNvSpPr/>
          <p:nvPr/>
        </p:nvSpPr>
        <p:spPr>
          <a:xfrm>
            <a:off x="914400" y="3840480"/>
            <a:ext cx="5029200" cy="50292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Articles &lt; 48h au format Google News officiel avec news:publication_date et news:title.</a:t>
            </a:r>
            <a:endParaRPr lang="en-US" sz="1000" dirty="0"/>
          </a:p>
        </p:txBody>
      </p:sp>
      <p:sp>
        <p:nvSpPr>
          <p:cNvPr id="13" name="Text 11"/>
          <p:cNvSpPr/>
          <p:nvPr/>
        </p:nvSpPr>
        <p:spPr>
          <a:xfrm>
            <a:off x="914400" y="4434840"/>
            <a:ext cx="5029200" cy="274320"/>
          </a:xfrm>
          <a:prstGeom prst="rect">
            <a:avLst/>
          </a:prstGeom>
          <a:noFill/>
          <a:ln/>
        </p:spPr>
        <p:txBody>
          <a:bodyPr wrap="square" rtlCol="0" anchor="ctr"/>
          <a:lstStyle/>
          <a:p>
            <a:pPr indent="0" marL="0">
              <a:buNone/>
            </a:pPr>
            <a:r>
              <a:rPr lang="en-US" sz="1200" b="1" dirty="0">
                <a:solidFill>
                  <a:srgbClr val="0B1C30"/>
                </a:solidFill>
                <a:latin typeface="Georgia" pitchFamily="34" charset="0"/>
                <a:ea typeface="Georgia" pitchFamily="34" charset="-122"/>
                <a:cs typeface="Georgia" pitchFamily="34" charset="-120"/>
              </a:rPr>
              <a:t>image-sitemap.xml</a:t>
            </a:r>
            <a:endParaRPr lang="en-US" sz="1200" dirty="0"/>
          </a:p>
        </p:txBody>
      </p:sp>
      <p:sp>
        <p:nvSpPr>
          <p:cNvPr id="14" name="Text 12"/>
          <p:cNvSpPr/>
          <p:nvPr/>
        </p:nvSpPr>
        <p:spPr>
          <a:xfrm>
            <a:off x="914400" y="4709160"/>
            <a:ext cx="5029200" cy="50292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Chaque image hero d'article avec image:title + image:caption pour Google Images.</a:t>
            </a:r>
            <a:endParaRPr lang="en-US" sz="1000" dirty="0"/>
          </a:p>
        </p:txBody>
      </p:sp>
      <p:sp>
        <p:nvSpPr>
          <p:cNvPr id="15" name="Text 13"/>
          <p:cNvSpPr/>
          <p:nvPr/>
        </p:nvSpPr>
        <p:spPr>
          <a:xfrm>
            <a:off x="914400" y="5303520"/>
            <a:ext cx="5029200" cy="274320"/>
          </a:xfrm>
          <a:prstGeom prst="rect">
            <a:avLst/>
          </a:prstGeom>
          <a:noFill/>
          <a:ln/>
        </p:spPr>
        <p:txBody>
          <a:bodyPr wrap="square" rtlCol="0" anchor="ctr"/>
          <a:lstStyle/>
          <a:p>
            <a:pPr indent="0" marL="0">
              <a:buNone/>
            </a:pPr>
            <a:r>
              <a:rPr lang="en-US" sz="1200" b="1" dirty="0">
                <a:solidFill>
                  <a:srgbClr val="0B1C30"/>
                </a:solidFill>
                <a:latin typeface="Georgia" pitchFamily="34" charset="0"/>
                <a:ea typeface="Georgia" pitchFamily="34" charset="-122"/>
                <a:cs typeface="Georgia" pitchFamily="34" charset="-120"/>
              </a:rPr>
              <a:t>rss.xml</a:t>
            </a:r>
            <a:endParaRPr lang="en-US" sz="1200" dirty="0"/>
          </a:p>
        </p:txBody>
      </p:sp>
      <p:sp>
        <p:nvSpPr>
          <p:cNvPr id="16" name="Text 14"/>
          <p:cNvSpPr/>
          <p:nvPr/>
        </p:nvSpPr>
        <p:spPr>
          <a:xfrm>
            <a:off x="914400" y="5577840"/>
            <a:ext cx="5029200" cy="50292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Flux RSS 2.0 pour les agrégateurs tiers + lecteurs RSS.</a:t>
            </a:r>
            <a:endParaRPr lang="en-US" sz="1000" dirty="0"/>
          </a:p>
        </p:txBody>
      </p:sp>
      <p:sp>
        <p:nvSpPr>
          <p:cNvPr id="17" name="Shape 15"/>
          <p:cNvSpPr/>
          <p:nvPr/>
        </p:nvSpPr>
        <p:spPr>
          <a:xfrm>
            <a:off x="6400800" y="1965960"/>
            <a:ext cx="5212080" cy="4389120"/>
          </a:xfrm>
          <a:prstGeom prst="rect">
            <a:avLst/>
          </a:prstGeom>
          <a:solidFill>
            <a:srgbClr val="0B1C30"/>
          </a:solidFill>
          <a:ln w="12700">
            <a:solidFill>
              <a:srgbClr val="0B1C30"/>
            </a:solidFill>
            <a:prstDash val="solid"/>
          </a:ln>
        </p:spPr>
      </p:sp>
      <p:sp>
        <p:nvSpPr>
          <p:cNvPr id="18" name="Shape 16"/>
          <p:cNvSpPr/>
          <p:nvPr/>
        </p:nvSpPr>
        <p:spPr>
          <a:xfrm>
            <a:off x="6400800" y="1965960"/>
            <a:ext cx="5212080" cy="73152"/>
          </a:xfrm>
          <a:prstGeom prst="rect">
            <a:avLst/>
          </a:prstGeom>
          <a:solidFill>
            <a:srgbClr val="FF4500"/>
          </a:solidFill>
          <a:ln w="12700">
            <a:solidFill>
              <a:srgbClr val="FF4500"/>
            </a:solidFill>
            <a:prstDash val="solid"/>
          </a:ln>
        </p:spPr>
      </p:sp>
      <p:sp>
        <p:nvSpPr>
          <p:cNvPr id="19" name="Text 17"/>
          <p:cNvSpPr/>
          <p:nvPr/>
        </p:nvSpPr>
        <p:spPr>
          <a:xfrm>
            <a:off x="6675120" y="2176272"/>
            <a:ext cx="466344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ROBOTS.TXT &amp; INDEXNOW</a:t>
            </a:r>
            <a:endParaRPr lang="en-US" sz="1300" dirty="0"/>
          </a:p>
        </p:txBody>
      </p:sp>
      <p:sp>
        <p:nvSpPr>
          <p:cNvPr id="20" name="Text 18"/>
          <p:cNvSpPr/>
          <p:nvPr/>
        </p:nvSpPr>
        <p:spPr>
          <a:xfrm>
            <a:off x="6675120" y="2697480"/>
            <a:ext cx="4663440" cy="3520440"/>
          </a:xfrm>
          <a:prstGeom prst="rect">
            <a:avLst/>
          </a:prstGeom>
          <a:noFill/>
          <a:ln/>
        </p:spPr>
        <p:txBody>
          <a:bodyPr wrap="square" rtlCol="0" anchor="ctr"/>
          <a:lstStyle/>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14 user-agents explicitement autorisés : Googlebot, Googlebot-Image, Bingbot, Yandex, DuckDuckBot, Applebot</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Bots IA explicitement autorisés : GPTBot, OAI-SearchBot, ChatGPT-User, ClaudeBot, Claude-Web, anthropic-ai, PerplexityBot, Google-Extended, CCBot</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Accès bloqué uniquement à /api/ et /_next/ (ressources techniques)</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Host canonical spécifié + 4 sitemaps listés pour que chaque crawler les découvre</a:t>
            </a:r>
            <a:endParaRPr lang="en-US" sz="1100" dirty="0"/>
          </a:p>
          <a:p>
            <a:pPr marL="342900" indent="-342900">
              <a:spcAft>
                <a:spcPts val="600"/>
              </a:spcAft>
              <a:buSzPct val="100000"/>
              <a:buChar char="•"/>
            </a:pPr>
            <a:r>
              <a:rPr lang="en-US" sz="1100" dirty="0">
                <a:solidFill>
                  <a:srgbClr val="FFFFFF"/>
                </a:solidFill>
                <a:latin typeface="Calibri" pitchFamily="34" charset="0"/>
                <a:ea typeface="Calibri" pitchFamily="34" charset="-122"/>
                <a:cs typeface="Calibri" pitchFamily="34" charset="-120"/>
              </a:rPr>
              <a:t>IndexNow activé (clé 4e7c8a2f5b9d1e3a6c4f8b2d5e7a9c1f) : notification instantanée aux moteurs lors d'un changement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07</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META TAGS &amp; PARTAGES SOCIAUX</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200" b="1" dirty="0">
                <a:solidFill>
                  <a:srgbClr val="0B1C30"/>
                </a:solidFill>
                <a:latin typeface="Georgia" pitchFamily="34" charset="0"/>
                <a:ea typeface="Georgia" pitchFamily="34" charset="-122"/>
                <a:cs typeface="Georgia" pitchFamily="34" charset="-120"/>
              </a:rPr>
              <a:t>Chaque page optimisée pour les moteurs et les réseaux</a:t>
            </a:r>
            <a:endParaRPr lang="en-US" sz="2200" dirty="0"/>
          </a:p>
        </p:txBody>
      </p:sp>
      <p:sp>
        <p:nvSpPr>
          <p:cNvPr id="6" name="Shape 4"/>
          <p:cNvSpPr/>
          <p:nvPr/>
        </p:nvSpPr>
        <p:spPr>
          <a:xfrm>
            <a:off x="640080" y="2057400"/>
            <a:ext cx="5394960" cy="1965960"/>
          </a:xfrm>
          <a:prstGeom prst="rect">
            <a:avLst/>
          </a:prstGeom>
          <a:solidFill>
            <a:srgbClr val="F8F9FF"/>
          </a:solidFill>
          <a:ln w="12700">
            <a:solidFill>
              <a:srgbClr val="E5EEFF"/>
            </a:solidFill>
            <a:prstDash val="solid"/>
          </a:ln>
        </p:spPr>
      </p:sp>
      <p:sp>
        <p:nvSpPr>
          <p:cNvPr id="7" name="Shape 5"/>
          <p:cNvSpPr/>
          <p:nvPr/>
        </p:nvSpPr>
        <p:spPr>
          <a:xfrm>
            <a:off x="640080" y="2057400"/>
            <a:ext cx="109728" cy="1965960"/>
          </a:xfrm>
          <a:prstGeom prst="rect">
            <a:avLst/>
          </a:prstGeom>
          <a:solidFill>
            <a:srgbClr val="FF4500"/>
          </a:solidFill>
          <a:ln w="12700">
            <a:solidFill>
              <a:srgbClr val="FF4500"/>
            </a:solidFill>
            <a:prstDash val="solid"/>
          </a:ln>
        </p:spPr>
      </p:sp>
      <p:sp>
        <p:nvSpPr>
          <p:cNvPr id="8" name="Text 6"/>
          <p:cNvSpPr/>
          <p:nvPr/>
        </p:nvSpPr>
        <p:spPr>
          <a:xfrm>
            <a:off x="960120" y="224028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Balises moteurs</a:t>
            </a:r>
            <a:endParaRPr lang="en-US" sz="1500" dirty="0"/>
          </a:p>
        </p:txBody>
      </p:sp>
      <p:sp>
        <p:nvSpPr>
          <p:cNvPr id="9" name="Text 7"/>
          <p:cNvSpPr/>
          <p:nvPr/>
        </p:nvSpPr>
        <p:spPr>
          <a:xfrm>
            <a:off x="960120" y="2651760"/>
            <a:ext cx="4846320" cy="1325880"/>
          </a:xfrm>
          <a:prstGeom prst="rect">
            <a:avLst/>
          </a:prstGeom>
          <a:noFill/>
          <a:ln/>
        </p:spPr>
        <p:txBody>
          <a:bodyPr wrap="square" rtlCol="0" anchor="ctr"/>
          <a:lstStyle/>
          <a:p>
            <a:pPr indent="0" marL="0">
              <a:spcAft>
                <a:spcPts val="200"/>
              </a:spcAft>
              <a:buNone/>
            </a:pPr>
            <a:r>
              <a:rPr lang="en-US" sz="1050" dirty="0">
                <a:solidFill>
                  <a:srgbClr val="5A6A80"/>
                </a:solidFill>
                <a:latin typeface="Calibri" pitchFamily="34" charset="0"/>
                <a:ea typeface="Calibri" pitchFamily="34" charset="-122"/>
                <a:cs typeface="Calibri" pitchFamily="34" charset="-120"/>
              </a:rPr>
              <a:t>title (template %s | Altitude Trail) · description · metadataBase · canonical URL · hreflang fr · robots (index, follow, max-image-preview=large, max-snippet=-1, max-video-preview=-1) · google-site-verification.</a:t>
            </a:r>
            <a:endParaRPr lang="en-US" sz="1050" dirty="0"/>
          </a:p>
        </p:txBody>
      </p:sp>
      <p:sp>
        <p:nvSpPr>
          <p:cNvPr id="10" name="Shape 8"/>
          <p:cNvSpPr/>
          <p:nvPr/>
        </p:nvSpPr>
        <p:spPr>
          <a:xfrm>
            <a:off x="6309360" y="2057400"/>
            <a:ext cx="5394960" cy="1965960"/>
          </a:xfrm>
          <a:prstGeom prst="rect">
            <a:avLst/>
          </a:prstGeom>
          <a:solidFill>
            <a:srgbClr val="F8F9FF"/>
          </a:solidFill>
          <a:ln w="12700">
            <a:solidFill>
              <a:srgbClr val="E5EEFF"/>
            </a:solidFill>
            <a:prstDash val="solid"/>
          </a:ln>
        </p:spPr>
      </p:sp>
      <p:sp>
        <p:nvSpPr>
          <p:cNvPr id="11" name="Shape 9"/>
          <p:cNvSpPr/>
          <p:nvPr/>
        </p:nvSpPr>
        <p:spPr>
          <a:xfrm>
            <a:off x="6309360" y="2057400"/>
            <a:ext cx="109728" cy="1965960"/>
          </a:xfrm>
          <a:prstGeom prst="rect">
            <a:avLst/>
          </a:prstGeom>
          <a:solidFill>
            <a:srgbClr val="FF4500"/>
          </a:solidFill>
          <a:ln w="12700">
            <a:solidFill>
              <a:srgbClr val="FF4500"/>
            </a:solidFill>
            <a:prstDash val="solid"/>
          </a:ln>
        </p:spPr>
      </p:sp>
      <p:sp>
        <p:nvSpPr>
          <p:cNvPr id="12" name="Text 10"/>
          <p:cNvSpPr/>
          <p:nvPr/>
        </p:nvSpPr>
        <p:spPr>
          <a:xfrm>
            <a:off x="6629400" y="224028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Open Graph (Facebook, LinkedIn)</a:t>
            </a:r>
            <a:endParaRPr lang="en-US" sz="1500" dirty="0"/>
          </a:p>
        </p:txBody>
      </p:sp>
      <p:sp>
        <p:nvSpPr>
          <p:cNvPr id="13" name="Text 11"/>
          <p:cNvSpPr/>
          <p:nvPr/>
        </p:nvSpPr>
        <p:spPr>
          <a:xfrm>
            <a:off x="6629400" y="2651760"/>
            <a:ext cx="4846320" cy="1325880"/>
          </a:xfrm>
          <a:prstGeom prst="rect">
            <a:avLst/>
          </a:prstGeom>
          <a:noFill/>
          <a:ln/>
        </p:spPr>
        <p:txBody>
          <a:bodyPr wrap="square" rtlCol="0" anchor="ctr"/>
          <a:lstStyle/>
          <a:p>
            <a:pPr indent="0" marL="0">
              <a:spcAft>
                <a:spcPts val="200"/>
              </a:spcAft>
              <a:buNone/>
            </a:pPr>
            <a:r>
              <a:rPr lang="en-US" sz="1050" dirty="0">
                <a:solidFill>
                  <a:srgbClr val="5A6A80"/>
                </a:solidFill>
                <a:latin typeface="Calibri" pitchFamily="34" charset="0"/>
                <a:ea typeface="Calibri" pitchFamily="34" charset="-122"/>
                <a:cs typeface="Calibri" pitchFamily="34" charset="-120"/>
              </a:rPr>
              <a:t>og:type (article / website) · og:url · og:title · og:description · og:siteName · og:locale fr_FR · og:image (OG image dynamique générée en Edge runtime via src/app/opengraph-image.tsx, 1200×630px).</a:t>
            </a:r>
            <a:endParaRPr lang="en-US" sz="1050" dirty="0"/>
          </a:p>
        </p:txBody>
      </p:sp>
      <p:sp>
        <p:nvSpPr>
          <p:cNvPr id="14" name="Shape 12"/>
          <p:cNvSpPr/>
          <p:nvPr/>
        </p:nvSpPr>
        <p:spPr>
          <a:xfrm>
            <a:off x="640080" y="4206240"/>
            <a:ext cx="5394960" cy="1965960"/>
          </a:xfrm>
          <a:prstGeom prst="rect">
            <a:avLst/>
          </a:prstGeom>
          <a:solidFill>
            <a:srgbClr val="F8F9FF"/>
          </a:solidFill>
          <a:ln w="12700">
            <a:solidFill>
              <a:srgbClr val="E5EEFF"/>
            </a:solidFill>
            <a:prstDash val="solid"/>
          </a:ln>
        </p:spPr>
      </p:sp>
      <p:sp>
        <p:nvSpPr>
          <p:cNvPr id="15" name="Shape 13"/>
          <p:cNvSpPr/>
          <p:nvPr/>
        </p:nvSpPr>
        <p:spPr>
          <a:xfrm>
            <a:off x="640080" y="4206240"/>
            <a:ext cx="109728" cy="1965960"/>
          </a:xfrm>
          <a:prstGeom prst="rect">
            <a:avLst/>
          </a:prstGeom>
          <a:solidFill>
            <a:srgbClr val="FF4500"/>
          </a:solidFill>
          <a:ln w="12700">
            <a:solidFill>
              <a:srgbClr val="FF4500"/>
            </a:solidFill>
            <a:prstDash val="solid"/>
          </a:ln>
        </p:spPr>
      </p:sp>
      <p:sp>
        <p:nvSpPr>
          <p:cNvPr id="16" name="Text 14"/>
          <p:cNvSpPr/>
          <p:nvPr/>
        </p:nvSpPr>
        <p:spPr>
          <a:xfrm>
            <a:off x="960120" y="438912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Twitter / X</a:t>
            </a:r>
            <a:endParaRPr lang="en-US" sz="1500" dirty="0"/>
          </a:p>
        </p:txBody>
      </p:sp>
      <p:sp>
        <p:nvSpPr>
          <p:cNvPr id="17" name="Text 15"/>
          <p:cNvSpPr/>
          <p:nvPr/>
        </p:nvSpPr>
        <p:spPr>
          <a:xfrm>
            <a:off x="960120" y="4800600"/>
            <a:ext cx="4846320" cy="1325880"/>
          </a:xfrm>
          <a:prstGeom prst="rect">
            <a:avLst/>
          </a:prstGeom>
          <a:noFill/>
          <a:ln/>
        </p:spPr>
        <p:txBody>
          <a:bodyPr wrap="square" rtlCol="0" anchor="ctr"/>
          <a:lstStyle/>
          <a:p>
            <a:pPr indent="0" marL="0">
              <a:spcAft>
                <a:spcPts val="200"/>
              </a:spcAft>
              <a:buNone/>
            </a:pPr>
            <a:r>
              <a:rPr lang="en-US" sz="1050" dirty="0">
                <a:solidFill>
                  <a:srgbClr val="5A6A80"/>
                </a:solidFill>
                <a:latin typeface="Calibri" pitchFamily="34" charset="0"/>
                <a:ea typeface="Calibri" pitchFamily="34" charset="-122"/>
                <a:cs typeface="Calibri" pitchFamily="34" charset="-120"/>
              </a:rPr>
              <a:t>twitter:card = summary_large_image · twitter:title · twitter:description · twitter:images · Image héritée de l'OG par défaut, surchargeable par article.</a:t>
            </a:r>
            <a:endParaRPr lang="en-US" sz="1050" dirty="0"/>
          </a:p>
        </p:txBody>
      </p:sp>
      <p:sp>
        <p:nvSpPr>
          <p:cNvPr id="18" name="Shape 16"/>
          <p:cNvSpPr/>
          <p:nvPr/>
        </p:nvSpPr>
        <p:spPr>
          <a:xfrm>
            <a:off x="6309360" y="4206240"/>
            <a:ext cx="5394960" cy="1965960"/>
          </a:xfrm>
          <a:prstGeom prst="rect">
            <a:avLst/>
          </a:prstGeom>
          <a:solidFill>
            <a:srgbClr val="F8F9FF"/>
          </a:solidFill>
          <a:ln w="12700">
            <a:solidFill>
              <a:srgbClr val="E5EEFF"/>
            </a:solidFill>
            <a:prstDash val="solid"/>
          </a:ln>
        </p:spPr>
      </p:sp>
      <p:sp>
        <p:nvSpPr>
          <p:cNvPr id="19" name="Shape 17"/>
          <p:cNvSpPr/>
          <p:nvPr/>
        </p:nvSpPr>
        <p:spPr>
          <a:xfrm>
            <a:off x="6309360" y="4206240"/>
            <a:ext cx="109728" cy="1965960"/>
          </a:xfrm>
          <a:prstGeom prst="rect">
            <a:avLst/>
          </a:prstGeom>
          <a:solidFill>
            <a:srgbClr val="FF4500"/>
          </a:solidFill>
          <a:ln w="12700">
            <a:solidFill>
              <a:srgbClr val="FF4500"/>
            </a:solidFill>
            <a:prstDash val="solid"/>
          </a:ln>
        </p:spPr>
      </p:sp>
      <p:sp>
        <p:nvSpPr>
          <p:cNvPr id="20" name="Text 18"/>
          <p:cNvSpPr/>
          <p:nvPr/>
        </p:nvSpPr>
        <p:spPr>
          <a:xfrm>
            <a:off x="6629400" y="4389120"/>
            <a:ext cx="4846320" cy="365760"/>
          </a:xfrm>
          <a:prstGeom prst="rect">
            <a:avLst/>
          </a:prstGeom>
          <a:noFill/>
          <a:ln/>
        </p:spPr>
        <p:txBody>
          <a:bodyPr wrap="square" rtlCol="0" anchor="ctr"/>
          <a:lstStyle/>
          <a:p>
            <a:pPr indent="0" marL="0">
              <a:buNone/>
            </a:pPr>
            <a:r>
              <a:rPr lang="en-US" sz="1500" b="1" dirty="0">
                <a:solidFill>
                  <a:srgbClr val="0B1C30"/>
                </a:solidFill>
                <a:latin typeface="Georgia" pitchFamily="34" charset="0"/>
                <a:ea typeface="Georgia" pitchFamily="34" charset="-122"/>
                <a:cs typeface="Georgia" pitchFamily="34" charset="-120"/>
              </a:rPr>
              <a:t>Signaux additionnels</a:t>
            </a:r>
            <a:endParaRPr lang="en-US" sz="1500" dirty="0"/>
          </a:p>
        </p:txBody>
      </p:sp>
      <p:sp>
        <p:nvSpPr>
          <p:cNvPr id="21" name="Text 19"/>
          <p:cNvSpPr/>
          <p:nvPr/>
        </p:nvSpPr>
        <p:spPr>
          <a:xfrm>
            <a:off x="6629400" y="4800600"/>
            <a:ext cx="4846320" cy="1325880"/>
          </a:xfrm>
          <a:prstGeom prst="rect">
            <a:avLst/>
          </a:prstGeom>
          <a:noFill/>
          <a:ln/>
        </p:spPr>
        <p:txBody>
          <a:bodyPr wrap="square" rtlCol="0" anchor="ctr"/>
          <a:lstStyle/>
          <a:p>
            <a:pPr indent="0" marL="0">
              <a:spcAft>
                <a:spcPts val="200"/>
              </a:spcAft>
              <a:buNone/>
            </a:pPr>
            <a:r>
              <a:rPr lang="en-US" sz="1050" dirty="0">
                <a:solidFill>
                  <a:srgbClr val="5A6A80"/>
                </a:solidFill>
                <a:latin typeface="Calibri" pitchFamily="34" charset="0"/>
                <a:ea typeface="Calibri" pitchFamily="34" charset="-122"/>
                <a:cs typeface="Calibri" pitchFamily="34" charset="-120"/>
              </a:rPr>
              <a:t>news_keywords (tags + keywords éditoriaux) · syndication-source + original-source = URL canonique · manifest.webmanifest (PWA installable) · theme-color light + dark · viewport cover iPhone safe-area.</a:t>
            </a:r>
            <a:endParaRPr lang="en-US" sz="1050" dirty="0"/>
          </a:p>
        </p:txBody>
      </p:sp>
      <p:sp>
        <p:nvSpPr>
          <p:cNvPr id="22" name="Text 20"/>
          <p:cNvSpPr/>
          <p:nvPr/>
        </p:nvSpPr>
        <p:spPr>
          <a:xfrm>
            <a:off x="640080" y="6400800"/>
            <a:ext cx="10972800" cy="365760"/>
          </a:xfrm>
          <a:prstGeom prst="rect">
            <a:avLst/>
          </a:prstGeom>
          <a:noFill/>
          <a:ln/>
        </p:spPr>
        <p:txBody>
          <a:bodyPr wrap="square" rtlCol="0" anchor="ctr"/>
          <a:lstStyle/>
          <a:p>
            <a:pPr algn="ctr" indent="0" marL="0">
              <a:buNone/>
            </a:pPr>
            <a:r>
              <a:rPr lang="en-US" sz="1100" b="1" i="1" dirty="0">
                <a:solidFill>
                  <a:srgbClr val="FF4500"/>
                </a:solidFill>
                <a:latin typeface="Calibri" pitchFamily="34" charset="0"/>
                <a:ea typeface="Calibri" pitchFamily="34" charset="-122"/>
                <a:cs typeface="Calibri" pitchFamily="34" charset="-120"/>
              </a:rPr>
              <a:t>→ Chaque partage social affiche une vignette soignée (image générée dynamiquement + titre + description). Cliquabilité boostée sur Twitter/LinkedIn/Messenger.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08</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BOTS IA — OPPORTUNITÉ STRATÉGIQUE</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200" b="1" dirty="0">
                <a:solidFill>
                  <a:srgbClr val="0B1C30"/>
                </a:solidFill>
                <a:latin typeface="Georgia" pitchFamily="34" charset="0"/>
                <a:ea typeface="Georgia" pitchFamily="34" charset="-122"/>
                <a:cs typeface="Georgia" pitchFamily="34" charset="-120"/>
              </a:rPr>
              <a:t>Altitude Trail est référençable par les assistants IA</a:t>
            </a:r>
            <a:endParaRPr lang="en-US" sz="2200" dirty="0"/>
          </a:p>
        </p:txBody>
      </p:sp>
      <p:sp>
        <p:nvSpPr>
          <p:cNvPr id="6" name="Text 4"/>
          <p:cNvSpPr/>
          <p:nvPr/>
        </p:nvSpPr>
        <p:spPr>
          <a:xfrm>
            <a:off x="640080" y="1920240"/>
            <a:ext cx="10972800" cy="1005840"/>
          </a:xfrm>
          <a:prstGeom prst="rect">
            <a:avLst/>
          </a:prstGeom>
          <a:noFill/>
          <a:ln/>
        </p:spPr>
        <p:txBody>
          <a:bodyPr wrap="square" rtlCol="0" anchor="ctr"/>
          <a:lstStyle/>
          <a:p>
            <a:pPr indent="0" marL="0">
              <a:spcAft>
                <a:spcPts val="400"/>
              </a:spcAft>
              <a:buNone/>
            </a:pPr>
            <a:r>
              <a:rPr lang="en-US" sz="1200" dirty="0">
                <a:solidFill>
                  <a:srgbClr val="5A6A80"/>
                </a:solidFill>
                <a:latin typeface="Calibri" pitchFamily="34" charset="0"/>
                <a:ea typeface="Calibri" pitchFamily="34" charset="-122"/>
                <a:cs typeface="Calibri" pitchFamily="34" charset="-120"/>
              </a:rPr>
              <a:t>Les moteurs de recherche ne sont plus le seul canal de découverte. Les utilisateurs interrogent ChatGPT, Claude, Perplexity ou Gemini pour obtenir des réponses. Ces outils s'appuient sur le contenu web crawlé par leurs bots respectifs. Nous avons pris une position explicite : nos contenus sont ouverts à ces bots pour être potentiellement cités en réponse.</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3063240"/>
          <a:ext cx="10972800" cy="914400"/>
        </p:xfrm>
        <a:graphic>
          <a:graphicData uri="http://schemas.openxmlformats.org/drawingml/2006/table">
            <a:tbl>
              <a:tblPr/>
              <a:tblGrid>
                <a:gridCol w="2560320"/>
                <a:gridCol w="2286000"/>
                <a:gridCol w="6126480"/>
              </a:tblGrid>
              <a:tr h="25603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User-Agent</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Éditeur</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Usage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GPTBot</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Indexe pour ChatGPT + modèles GPT</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OAI-SearchBot</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Indexe pour la recherche web ChatGPT</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ChatGPT-User</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OpenAI</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Bot utilisé en navigation par un utilisateur ChatGPT</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ClaudeBot</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Anthropic</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Indexe pour Claude (Anthropic)</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Claude-Web</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Anthropic</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Navigation web depuis Claude</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anthropic-ai</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Anthropic</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Training data (opt-in/out au niveau robots)</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PerplexityBot</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Perplexity</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Indexe pour Perplexity.ai</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Perplexity-User</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Perplexity</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Navigation utilisateur Perplexity</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Google-Extended</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Google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Entraînement Gemini + Vertex AI (séparé de Googlebot)</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CCBot</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Common Crawl</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Crawl public utilisé par la plupart des LLM open source</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256032">
                <a:tc>
                  <a:txBody>
                    <a:bodyPr/>
                    <a:lstStyle/>
                    <a:p>
                      <a:pPr indent="0" marL="0">
                        <a:buNone/>
                      </a:pPr>
                      <a:r>
                        <a:rPr lang="en-US" sz="1000" b="1" dirty="0">
                          <a:solidFill>
                            <a:srgbClr val="0B1C30"/>
                          </a:solidFill>
                          <a:latin typeface="Consolas" pitchFamily="34" charset="0"/>
                          <a:ea typeface="Consolas" pitchFamily="34" charset="-122"/>
                          <a:cs typeface="Consolas" pitchFamily="34" charset="-120"/>
                        </a:rPr>
                        <a:t>Applebot-Extended</a:t>
                      </a:r>
                      <a:endParaRPr lang="en-US" sz="1000" dirty="0">
                        <a:latin typeface="Consolas" charset="0"/>
                        <a:ea typeface="Consolas" charset="0"/>
                        <a:cs typeface="Consolas"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Apple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950" dirty="0">
                          <a:solidFill>
                            <a:srgbClr val="5A6A80"/>
                          </a:solidFill>
                          <a:latin typeface="Calibri" pitchFamily="34" charset="0"/>
                          <a:ea typeface="Calibri" pitchFamily="34" charset="-122"/>
                          <a:cs typeface="Calibri" pitchFamily="34" charset="-120"/>
                        </a:rPr>
                        <a:t>Entraînement Apple Intelligence (séparé d'Applebot)</a:t>
                      </a:r>
                      <a:endParaRPr lang="en-US" sz="9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bl>
          </a:graphicData>
        </a:graphic>
      </p:graphicFrame>
      <p:sp>
        <p:nvSpPr>
          <p:cNvPr id="8" name="Text 5"/>
          <p:cNvSpPr/>
          <p:nvPr/>
        </p:nvSpPr>
        <p:spPr>
          <a:xfrm>
            <a:off x="640080" y="6492240"/>
            <a:ext cx="10972800" cy="274320"/>
          </a:xfrm>
          <a:prstGeom prst="rect">
            <a:avLst/>
          </a:prstGeom>
          <a:noFill/>
          <a:ln/>
        </p:spPr>
        <p:txBody>
          <a:bodyPr wrap="square" rtlCol="0" anchor="ctr"/>
          <a:lstStyle/>
          <a:p>
            <a:pPr algn="ctr" indent="0" marL="0">
              <a:buNone/>
            </a:pPr>
            <a:r>
              <a:rPr lang="en-US" sz="1000" i="1" dirty="0">
                <a:solidFill>
                  <a:srgbClr val="5A6A80"/>
                </a:solidFill>
                <a:latin typeface="Calibri" pitchFamily="34" charset="0"/>
                <a:ea typeface="Calibri" pitchFamily="34" charset="-122"/>
                <a:cs typeface="Calibri" pitchFamily="34" charset="-120"/>
              </a:rPr>
              <a:t>→ Position éditoriale révisable à tout moment via robots.txt. Alternative : bloquer certains bots spécifiques sans impacter Google classique.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09</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GOOGLE SEARCH CONSOLE &amp; PUBLISHER CENTER</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Intégration avec les deux consoles Google</a:t>
            </a:r>
            <a:endParaRPr lang="en-US" sz="2400" dirty="0"/>
          </a:p>
        </p:txBody>
      </p:sp>
      <p:sp>
        <p:nvSpPr>
          <p:cNvPr id="6" name="Shape 4"/>
          <p:cNvSpPr/>
          <p:nvPr/>
        </p:nvSpPr>
        <p:spPr>
          <a:xfrm>
            <a:off x="640080" y="1965960"/>
            <a:ext cx="5394960" cy="4389120"/>
          </a:xfrm>
          <a:prstGeom prst="rect">
            <a:avLst/>
          </a:prstGeom>
          <a:solidFill>
            <a:srgbClr val="F8F9FF"/>
          </a:solidFill>
          <a:ln w="12700">
            <a:solidFill>
              <a:srgbClr val="E5EEFF"/>
            </a:solidFill>
            <a:prstDash val="solid"/>
          </a:ln>
        </p:spPr>
      </p:sp>
      <p:sp>
        <p:nvSpPr>
          <p:cNvPr id="7" name="Shape 5"/>
          <p:cNvSpPr/>
          <p:nvPr/>
        </p:nvSpPr>
        <p:spPr>
          <a:xfrm>
            <a:off x="640080" y="1965960"/>
            <a:ext cx="109728" cy="4389120"/>
          </a:xfrm>
          <a:prstGeom prst="rect">
            <a:avLst/>
          </a:prstGeom>
          <a:solidFill>
            <a:srgbClr val="FF4500"/>
          </a:solidFill>
          <a:ln w="12700">
            <a:solidFill>
              <a:srgbClr val="FF4500"/>
            </a:solidFill>
            <a:prstDash val="solid"/>
          </a:ln>
        </p:spPr>
      </p:sp>
      <p:sp>
        <p:nvSpPr>
          <p:cNvPr id="8" name="Text 6"/>
          <p:cNvSpPr/>
          <p:nvPr/>
        </p:nvSpPr>
        <p:spPr>
          <a:xfrm>
            <a:off x="914400" y="2176272"/>
            <a:ext cx="502920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SEARCH CONSOLE — SEO TRADITIONNEL</a:t>
            </a:r>
            <a:endParaRPr lang="en-US" sz="1300" dirty="0"/>
          </a:p>
        </p:txBody>
      </p:sp>
      <p:sp>
        <p:nvSpPr>
          <p:cNvPr id="9" name="Text 7"/>
          <p:cNvSpPr/>
          <p:nvPr/>
        </p:nvSpPr>
        <p:spPr>
          <a:xfrm>
            <a:off x="914400" y="2560320"/>
            <a:ext cx="5029200" cy="594360"/>
          </a:xfrm>
          <a:prstGeom prst="rect">
            <a:avLst/>
          </a:prstGeom>
          <a:noFill/>
          <a:ln/>
        </p:spPr>
        <p:txBody>
          <a:bodyPr wrap="square" rtlCol="0" anchor="ctr"/>
          <a:lstStyle/>
          <a:p>
            <a:pPr indent="0" marL="0">
              <a:buNone/>
            </a:pPr>
            <a:r>
              <a:rPr lang="en-US" sz="1200" dirty="0">
                <a:solidFill>
                  <a:srgbClr val="0B1C30"/>
                </a:solidFill>
                <a:latin typeface="Calibri" pitchFamily="34" charset="0"/>
                <a:ea typeface="Calibri" pitchFamily="34" charset="-122"/>
                <a:cs typeface="Calibri" pitchFamily="34" charset="-120"/>
              </a:rPr>
              <a:t>Outil Google gratuit pour suivre l'indexation, les performances SEO et le crawl de Googlebot.</a:t>
            </a:r>
            <a:endParaRPr lang="en-US" sz="1200" dirty="0"/>
          </a:p>
        </p:txBody>
      </p:sp>
      <p:sp>
        <p:nvSpPr>
          <p:cNvPr id="10" name="Shape 8"/>
          <p:cNvSpPr/>
          <p:nvPr/>
        </p:nvSpPr>
        <p:spPr>
          <a:xfrm>
            <a:off x="960120" y="3291840"/>
            <a:ext cx="137160" cy="137160"/>
          </a:xfrm>
          <a:prstGeom prst="ellipse">
            <a:avLst/>
          </a:prstGeom>
          <a:solidFill>
            <a:srgbClr val="FF4500"/>
          </a:solidFill>
          <a:ln w="12700">
            <a:solidFill>
              <a:srgbClr val="FF4500"/>
            </a:solidFill>
            <a:prstDash val="solid"/>
          </a:ln>
        </p:spPr>
      </p:sp>
      <p:sp>
        <p:nvSpPr>
          <p:cNvPr id="11" name="Text 9"/>
          <p:cNvSpPr/>
          <p:nvPr/>
        </p:nvSpPr>
        <p:spPr>
          <a:xfrm>
            <a:off x="1188720" y="3246120"/>
            <a:ext cx="4754880" cy="228600"/>
          </a:xfrm>
          <a:prstGeom prst="rect">
            <a:avLst/>
          </a:prstGeom>
          <a:noFill/>
          <a:ln/>
        </p:spPr>
        <p:txBody>
          <a:bodyPr wrap="square" rtlCol="0" anchor="ctr"/>
          <a:lstStyle/>
          <a:p>
            <a:pPr indent="0" marL="0">
              <a:buNone/>
            </a:pPr>
            <a:r>
              <a:rPr lang="en-US" sz="1100" b="1" dirty="0">
                <a:solidFill>
                  <a:srgbClr val="0B1C30"/>
                </a:solidFill>
                <a:latin typeface="Calibri" pitchFamily="34" charset="0"/>
                <a:ea typeface="Calibri" pitchFamily="34" charset="-122"/>
                <a:cs typeface="Calibri" pitchFamily="34" charset="-120"/>
              </a:rPr>
              <a:t>Propriété Domain</a:t>
            </a:r>
            <a:endParaRPr lang="en-US" sz="1100" dirty="0"/>
          </a:p>
        </p:txBody>
      </p:sp>
      <p:sp>
        <p:nvSpPr>
          <p:cNvPr id="12" name="Text 10"/>
          <p:cNvSpPr/>
          <p:nvPr/>
        </p:nvSpPr>
        <p:spPr>
          <a:xfrm>
            <a:off x="1188720" y="3465576"/>
            <a:ext cx="4754880" cy="274320"/>
          </a:xfrm>
          <a:prstGeom prst="rect">
            <a:avLst/>
          </a:prstGeom>
          <a:noFill/>
          <a:ln/>
        </p:spPr>
        <p:txBody>
          <a:bodyPr wrap="square" rtlCol="0" anchor="ctr"/>
          <a:lstStyle/>
          <a:p>
            <a:pPr indent="0" marL="0">
              <a:buNone/>
            </a:pPr>
            <a:r>
              <a:rPr lang="en-US" sz="950" dirty="0">
                <a:solidFill>
                  <a:srgbClr val="5A6A80"/>
                </a:solidFill>
                <a:latin typeface="Calibri" pitchFamily="34" charset="0"/>
                <a:ea typeface="Calibri" pitchFamily="34" charset="-122"/>
                <a:cs typeface="Calibri" pitchFamily="34" charset="-120"/>
              </a:rPr>
              <a:t>altitude-trail.fr validée (couverture subdomains)</a:t>
            </a:r>
            <a:endParaRPr lang="en-US" sz="950" dirty="0"/>
          </a:p>
        </p:txBody>
      </p:sp>
      <p:sp>
        <p:nvSpPr>
          <p:cNvPr id="13" name="Shape 11"/>
          <p:cNvSpPr/>
          <p:nvPr/>
        </p:nvSpPr>
        <p:spPr>
          <a:xfrm>
            <a:off x="960120" y="3803904"/>
            <a:ext cx="137160" cy="137160"/>
          </a:xfrm>
          <a:prstGeom prst="ellipse">
            <a:avLst/>
          </a:prstGeom>
          <a:solidFill>
            <a:srgbClr val="FF4500"/>
          </a:solidFill>
          <a:ln w="12700">
            <a:solidFill>
              <a:srgbClr val="FF4500"/>
            </a:solidFill>
            <a:prstDash val="solid"/>
          </a:ln>
        </p:spPr>
      </p:sp>
      <p:sp>
        <p:nvSpPr>
          <p:cNvPr id="14" name="Text 12"/>
          <p:cNvSpPr/>
          <p:nvPr/>
        </p:nvSpPr>
        <p:spPr>
          <a:xfrm>
            <a:off x="1188720" y="3758184"/>
            <a:ext cx="4754880" cy="228600"/>
          </a:xfrm>
          <a:prstGeom prst="rect">
            <a:avLst/>
          </a:prstGeom>
          <a:noFill/>
          <a:ln/>
        </p:spPr>
        <p:txBody>
          <a:bodyPr wrap="square" rtlCol="0" anchor="ctr"/>
          <a:lstStyle/>
          <a:p>
            <a:pPr indent="0" marL="0">
              <a:buNone/>
            </a:pPr>
            <a:r>
              <a:rPr lang="en-US" sz="1100" b="1" dirty="0">
                <a:solidFill>
                  <a:srgbClr val="0B1C30"/>
                </a:solidFill>
                <a:latin typeface="Calibri" pitchFamily="34" charset="0"/>
                <a:ea typeface="Calibri" pitchFamily="34" charset="-122"/>
                <a:cs typeface="Calibri" pitchFamily="34" charset="-120"/>
              </a:rPr>
              <a:t>Propriété URL-prefix</a:t>
            </a:r>
            <a:endParaRPr lang="en-US" sz="1100" dirty="0"/>
          </a:p>
        </p:txBody>
      </p:sp>
      <p:sp>
        <p:nvSpPr>
          <p:cNvPr id="15" name="Text 13"/>
          <p:cNvSpPr/>
          <p:nvPr/>
        </p:nvSpPr>
        <p:spPr>
          <a:xfrm>
            <a:off x="1188720" y="3977640"/>
            <a:ext cx="4754880" cy="274320"/>
          </a:xfrm>
          <a:prstGeom prst="rect">
            <a:avLst/>
          </a:prstGeom>
          <a:noFill/>
          <a:ln/>
        </p:spPr>
        <p:txBody>
          <a:bodyPr wrap="square" rtlCol="0" anchor="ctr"/>
          <a:lstStyle/>
          <a:p>
            <a:pPr indent="0" marL="0">
              <a:buNone/>
            </a:pPr>
            <a:r>
              <a:rPr lang="en-US" sz="950" dirty="0">
                <a:solidFill>
                  <a:srgbClr val="5A6A80"/>
                </a:solidFill>
                <a:latin typeface="Calibri" pitchFamily="34" charset="0"/>
                <a:ea typeface="Calibri" pitchFamily="34" charset="-122"/>
                <a:cs typeface="Calibri" pitchFamily="34" charset="-120"/>
              </a:rPr>
              <a:t>https://www.altitude-trail.fr validée (obligatoire pour Publisher Center)</a:t>
            </a:r>
            <a:endParaRPr lang="en-US" sz="950" dirty="0"/>
          </a:p>
        </p:txBody>
      </p:sp>
      <p:sp>
        <p:nvSpPr>
          <p:cNvPr id="16" name="Shape 14"/>
          <p:cNvSpPr/>
          <p:nvPr/>
        </p:nvSpPr>
        <p:spPr>
          <a:xfrm>
            <a:off x="960120" y="4315968"/>
            <a:ext cx="137160" cy="137160"/>
          </a:xfrm>
          <a:prstGeom prst="ellipse">
            <a:avLst/>
          </a:prstGeom>
          <a:solidFill>
            <a:srgbClr val="FF4500"/>
          </a:solidFill>
          <a:ln w="12700">
            <a:solidFill>
              <a:srgbClr val="FF4500"/>
            </a:solidFill>
            <a:prstDash val="solid"/>
          </a:ln>
        </p:spPr>
      </p:sp>
      <p:sp>
        <p:nvSpPr>
          <p:cNvPr id="17" name="Text 15"/>
          <p:cNvSpPr/>
          <p:nvPr/>
        </p:nvSpPr>
        <p:spPr>
          <a:xfrm>
            <a:off x="1188720" y="4270248"/>
            <a:ext cx="4754880" cy="228600"/>
          </a:xfrm>
          <a:prstGeom prst="rect">
            <a:avLst/>
          </a:prstGeom>
          <a:noFill/>
          <a:ln/>
        </p:spPr>
        <p:txBody>
          <a:bodyPr wrap="square" rtlCol="0" anchor="ctr"/>
          <a:lstStyle/>
          <a:p>
            <a:pPr indent="0" marL="0">
              <a:buNone/>
            </a:pPr>
            <a:r>
              <a:rPr lang="en-US" sz="1100" b="1" dirty="0">
                <a:solidFill>
                  <a:srgbClr val="0B1C30"/>
                </a:solidFill>
                <a:latin typeface="Calibri" pitchFamily="34" charset="0"/>
                <a:ea typeface="Calibri" pitchFamily="34" charset="-122"/>
                <a:cs typeface="Calibri" pitchFamily="34" charset="-120"/>
              </a:rPr>
              <a:t>Méthode de validation</a:t>
            </a:r>
            <a:endParaRPr lang="en-US" sz="1100" dirty="0"/>
          </a:p>
        </p:txBody>
      </p:sp>
      <p:sp>
        <p:nvSpPr>
          <p:cNvPr id="18" name="Text 16"/>
          <p:cNvSpPr/>
          <p:nvPr/>
        </p:nvSpPr>
        <p:spPr>
          <a:xfrm>
            <a:off x="1188720" y="4489704"/>
            <a:ext cx="4754880" cy="274320"/>
          </a:xfrm>
          <a:prstGeom prst="rect">
            <a:avLst/>
          </a:prstGeom>
          <a:noFill/>
          <a:ln/>
        </p:spPr>
        <p:txBody>
          <a:bodyPr wrap="square" rtlCol="0" anchor="ctr"/>
          <a:lstStyle/>
          <a:p>
            <a:pPr indent="0" marL="0">
              <a:buNone/>
            </a:pPr>
            <a:r>
              <a:rPr lang="en-US" sz="950" dirty="0">
                <a:solidFill>
                  <a:srgbClr val="5A6A80"/>
                </a:solidFill>
                <a:latin typeface="Calibri" pitchFamily="34" charset="0"/>
                <a:ea typeface="Calibri" pitchFamily="34" charset="-122"/>
                <a:cs typeface="Calibri" pitchFamily="34" charset="-120"/>
              </a:rPr>
              <a:t>Google Analytics + balise HTML en code (code persistant)</a:t>
            </a:r>
            <a:endParaRPr lang="en-US" sz="950" dirty="0"/>
          </a:p>
        </p:txBody>
      </p:sp>
      <p:sp>
        <p:nvSpPr>
          <p:cNvPr id="19" name="Shape 17"/>
          <p:cNvSpPr/>
          <p:nvPr/>
        </p:nvSpPr>
        <p:spPr>
          <a:xfrm>
            <a:off x="960120" y="4828032"/>
            <a:ext cx="137160" cy="137160"/>
          </a:xfrm>
          <a:prstGeom prst="ellipse">
            <a:avLst/>
          </a:prstGeom>
          <a:solidFill>
            <a:srgbClr val="FF4500"/>
          </a:solidFill>
          <a:ln w="12700">
            <a:solidFill>
              <a:srgbClr val="FF4500"/>
            </a:solidFill>
            <a:prstDash val="solid"/>
          </a:ln>
        </p:spPr>
      </p:sp>
      <p:sp>
        <p:nvSpPr>
          <p:cNvPr id="20" name="Text 18"/>
          <p:cNvSpPr/>
          <p:nvPr/>
        </p:nvSpPr>
        <p:spPr>
          <a:xfrm>
            <a:off x="1188720" y="4782312"/>
            <a:ext cx="4754880" cy="228600"/>
          </a:xfrm>
          <a:prstGeom prst="rect">
            <a:avLst/>
          </a:prstGeom>
          <a:noFill/>
          <a:ln/>
        </p:spPr>
        <p:txBody>
          <a:bodyPr wrap="square" rtlCol="0" anchor="ctr"/>
          <a:lstStyle/>
          <a:p>
            <a:pPr indent="0" marL="0">
              <a:buNone/>
            </a:pPr>
            <a:r>
              <a:rPr lang="en-US" sz="1100" b="1" dirty="0">
                <a:solidFill>
                  <a:srgbClr val="0B1C30"/>
                </a:solidFill>
                <a:latin typeface="Calibri" pitchFamily="34" charset="0"/>
                <a:ea typeface="Calibri" pitchFamily="34" charset="-122"/>
                <a:cs typeface="Calibri" pitchFamily="34" charset="-120"/>
              </a:rPr>
              <a:t>Sitemaps soumis</a:t>
            </a:r>
            <a:endParaRPr lang="en-US" sz="1100" dirty="0"/>
          </a:p>
        </p:txBody>
      </p:sp>
      <p:sp>
        <p:nvSpPr>
          <p:cNvPr id="21" name="Text 19"/>
          <p:cNvSpPr/>
          <p:nvPr/>
        </p:nvSpPr>
        <p:spPr>
          <a:xfrm>
            <a:off x="1188720" y="5001768"/>
            <a:ext cx="4754880" cy="274320"/>
          </a:xfrm>
          <a:prstGeom prst="rect">
            <a:avLst/>
          </a:prstGeom>
          <a:noFill/>
          <a:ln/>
        </p:spPr>
        <p:txBody>
          <a:bodyPr wrap="square" rtlCol="0" anchor="ctr"/>
          <a:lstStyle/>
          <a:p>
            <a:pPr indent="0" marL="0">
              <a:buNone/>
            </a:pPr>
            <a:r>
              <a:rPr lang="en-US" sz="950" dirty="0">
                <a:solidFill>
                  <a:srgbClr val="5A6A80"/>
                </a:solidFill>
                <a:latin typeface="Calibri" pitchFamily="34" charset="0"/>
                <a:ea typeface="Calibri" pitchFamily="34" charset="-122"/>
                <a:cs typeface="Calibri" pitchFamily="34" charset="-120"/>
              </a:rPr>
              <a:t>sitemap.xml, news-sitemap.xml, image-sitemap.xml</a:t>
            </a:r>
            <a:endParaRPr lang="en-US" sz="950" dirty="0"/>
          </a:p>
        </p:txBody>
      </p:sp>
      <p:sp>
        <p:nvSpPr>
          <p:cNvPr id="22" name="Shape 20"/>
          <p:cNvSpPr/>
          <p:nvPr/>
        </p:nvSpPr>
        <p:spPr>
          <a:xfrm>
            <a:off x="960120" y="5340096"/>
            <a:ext cx="137160" cy="137160"/>
          </a:xfrm>
          <a:prstGeom prst="ellipse">
            <a:avLst/>
          </a:prstGeom>
          <a:solidFill>
            <a:srgbClr val="FF4500"/>
          </a:solidFill>
          <a:ln w="12700">
            <a:solidFill>
              <a:srgbClr val="FF4500"/>
            </a:solidFill>
            <a:prstDash val="solid"/>
          </a:ln>
        </p:spPr>
      </p:sp>
      <p:sp>
        <p:nvSpPr>
          <p:cNvPr id="23" name="Text 21"/>
          <p:cNvSpPr/>
          <p:nvPr/>
        </p:nvSpPr>
        <p:spPr>
          <a:xfrm>
            <a:off x="1188720" y="5294376"/>
            <a:ext cx="4754880" cy="228600"/>
          </a:xfrm>
          <a:prstGeom prst="rect">
            <a:avLst/>
          </a:prstGeom>
          <a:noFill/>
          <a:ln/>
        </p:spPr>
        <p:txBody>
          <a:bodyPr wrap="square" rtlCol="0" anchor="ctr"/>
          <a:lstStyle/>
          <a:p>
            <a:pPr indent="0" marL="0">
              <a:buNone/>
            </a:pPr>
            <a:r>
              <a:rPr lang="en-US" sz="1100" b="1" dirty="0">
                <a:solidFill>
                  <a:srgbClr val="0B1C30"/>
                </a:solidFill>
                <a:latin typeface="Calibri" pitchFamily="34" charset="0"/>
                <a:ea typeface="Calibri" pitchFamily="34" charset="-122"/>
                <a:cs typeface="Calibri" pitchFamily="34" charset="-120"/>
              </a:rPr>
              <a:t>Core Web Vitals</a:t>
            </a:r>
            <a:endParaRPr lang="en-US" sz="1100" dirty="0"/>
          </a:p>
        </p:txBody>
      </p:sp>
      <p:sp>
        <p:nvSpPr>
          <p:cNvPr id="24" name="Text 22"/>
          <p:cNvSpPr/>
          <p:nvPr/>
        </p:nvSpPr>
        <p:spPr>
          <a:xfrm>
            <a:off x="1188720" y="5513832"/>
            <a:ext cx="4754880" cy="274320"/>
          </a:xfrm>
          <a:prstGeom prst="rect">
            <a:avLst/>
          </a:prstGeom>
          <a:noFill/>
          <a:ln/>
        </p:spPr>
        <p:txBody>
          <a:bodyPr wrap="square" rtlCol="0" anchor="ctr"/>
          <a:lstStyle/>
          <a:p>
            <a:pPr indent="0" marL="0">
              <a:buNone/>
            </a:pPr>
            <a:r>
              <a:rPr lang="en-US" sz="950" dirty="0">
                <a:solidFill>
                  <a:srgbClr val="5A6A80"/>
                </a:solidFill>
                <a:latin typeface="Calibri" pitchFamily="34" charset="0"/>
                <a:ea typeface="Calibri" pitchFamily="34" charset="-122"/>
                <a:cs typeface="Calibri" pitchFamily="34" charset="-120"/>
              </a:rPr>
              <a:t>Suivi automatique sur Mobile + Desktop</a:t>
            </a:r>
            <a:endParaRPr lang="en-US" sz="950" dirty="0"/>
          </a:p>
        </p:txBody>
      </p:sp>
      <p:sp>
        <p:nvSpPr>
          <p:cNvPr id="25" name="Shape 23"/>
          <p:cNvSpPr/>
          <p:nvPr/>
        </p:nvSpPr>
        <p:spPr>
          <a:xfrm>
            <a:off x="960120" y="5852160"/>
            <a:ext cx="137160" cy="137160"/>
          </a:xfrm>
          <a:prstGeom prst="ellipse">
            <a:avLst/>
          </a:prstGeom>
          <a:solidFill>
            <a:srgbClr val="FF4500"/>
          </a:solidFill>
          <a:ln w="12700">
            <a:solidFill>
              <a:srgbClr val="FF4500"/>
            </a:solidFill>
            <a:prstDash val="solid"/>
          </a:ln>
        </p:spPr>
      </p:sp>
      <p:sp>
        <p:nvSpPr>
          <p:cNvPr id="26" name="Text 24"/>
          <p:cNvSpPr/>
          <p:nvPr/>
        </p:nvSpPr>
        <p:spPr>
          <a:xfrm>
            <a:off x="1188720" y="5806440"/>
            <a:ext cx="4754880" cy="228600"/>
          </a:xfrm>
          <a:prstGeom prst="rect">
            <a:avLst/>
          </a:prstGeom>
          <a:noFill/>
          <a:ln/>
        </p:spPr>
        <p:txBody>
          <a:bodyPr wrap="square" rtlCol="0" anchor="ctr"/>
          <a:lstStyle/>
          <a:p>
            <a:pPr indent="0" marL="0">
              <a:buNone/>
            </a:pPr>
            <a:r>
              <a:rPr lang="en-US" sz="1100" b="1" dirty="0">
                <a:solidFill>
                  <a:srgbClr val="0B1C30"/>
                </a:solidFill>
                <a:latin typeface="Calibri" pitchFamily="34" charset="0"/>
                <a:ea typeface="Calibri" pitchFamily="34" charset="-122"/>
                <a:cs typeface="Calibri" pitchFamily="34" charset="-120"/>
              </a:rPr>
              <a:t>Couverture indexation</a:t>
            </a:r>
            <a:endParaRPr lang="en-US" sz="1100" dirty="0"/>
          </a:p>
        </p:txBody>
      </p:sp>
      <p:sp>
        <p:nvSpPr>
          <p:cNvPr id="27" name="Text 25"/>
          <p:cNvSpPr/>
          <p:nvPr/>
        </p:nvSpPr>
        <p:spPr>
          <a:xfrm>
            <a:off x="1188720" y="6025896"/>
            <a:ext cx="4754880" cy="274320"/>
          </a:xfrm>
          <a:prstGeom prst="rect">
            <a:avLst/>
          </a:prstGeom>
          <a:noFill/>
          <a:ln/>
        </p:spPr>
        <p:txBody>
          <a:bodyPr wrap="square" rtlCol="0" anchor="ctr"/>
          <a:lstStyle/>
          <a:p>
            <a:pPr indent="0" marL="0">
              <a:buNone/>
            </a:pPr>
            <a:r>
              <a:rPr lang="en-US" sz="950" dirty="0">
                <a:solidFill>
                  <a:srgbClr val="5A6A80"/>
                </a:solidFill>
                <a:latin typeface="Calibri" pitchFamily="34" charset="0"/>
                <a:ea typeface="Calibri" pitchFamily="34" charset="-122"/>
                <a:cs typeface="Calibri" pitchFamily="34" charset="-120"/>
              </a:rPr>
              <a:t>Rapport à jour sur les pages indexées / exclues</a:t>
            </a:r>
            <a:endParaRPr lang="en-US" sz="950" dirty="0"/>
          </a:p>
        </p:txBody>
      </p:sp>
      <p:sp>
        <p:nvSpPr>
          <p:cNvPr id="28" name="Shape 26"/>
          <p:cNvSpPr/>
          <p:nvPr/>
        </p:nvSpPr>
        <p:spPr>
          <a:xfrm>
            <a:off x="6309360" y="1965960"/>
            <a:ext cx="5303520" cy="4389120"/>
          </a:xfrm>
          <a:prstGeom prst="rect">
            <a:avLst/>
          </a:prstGeom>
          <a:solidFill>
            <a:srgbClr val="0B1C30"/>
          </a:solidFill>
          <a:ln w="12700">
            <a:solidFill>
              <a:srgbClr val="0B1C30"/>
            </a:solidFill>
            <a:prstDash val="solid"/>
          </a:ln>
        </p:spPr>
      </p:sp>
      <p:sp>
        <p:nvSpPr>
          <p:cNvPr id="29" name="Shape 27"/>
          <p:cNvSpPr/>
          <p:nvPr/>
        </p:nvSpPr>
        <p:spPr>
          <a:xfrm>
            <a:off x="6309360" y="1965960"/>
            <a:ext cx="5303520" cy="73152"/>
          </a:xfrm>
          <a:prstGeom prst="rect">
            <a:avLst/>
          </a:prstGeom>
          <a:solidFill>
            <a:srgbClr val="FF4500"/>
          </a:solidFill>
          <a:ln w="12700">
            <a:solidFill>
              <a:srgbClr val="FF4500"/>
            </a:solidFill>
            <a:prstDash val="solid"/>
          </a:ln>
        </p:spPr>
      </p:sp>
      <p:sp>
        <p:nvSpPr>
          <p:cNvPr id="30" name="Text 28"/>
          <p:cNvSpPr/>
          <p:nvPr/>
        </p:nvSpPr>
        <p:spPr>
          <a:xfrm>
            <a:off x="6583680" y="2176272"/>
            <a:ext cx="475488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PUBLISHER CENTER — GOOGLE NEWS</a:t>
            </a:r>
            <a:endParaRPr lang="en-US" sz="1300" dirty="0"/>
          </a:p>
        </p:txBody>
      </p:sp>
      <p:sp>
        <p:nvSpPr>
          <p:cNvPr id="31" name="Text 29"/>
          <p:cNvSpPr/>
          <p:nvPr/>
        </p:nvSpPr>
        <p:spPr>
          <a:xfrm>
            <a:off x="6583680" y="2560320"/>
            <a:ext cx="4754880" cy="640080"/>
          </a:xfrm>
          <a:prstGeom prst="rect">
            <a:avLst/>
          </a:prstGeom>
          <a:noFill/>
          <a:ln/>
        </p:spPr>
        <p:txBody>
          <a:bodyPr wrap="square" rtlCol="0" anchor="ctr"/>
          <a:lstStyle/>
          <a:p>
            <a:pPr indent="0" marL="0">
              <a:buNone/>
            </a:pPr>
            <a:r>
              <a:rPr lang="en-US" sz="1200" dirty="0">
                <a:solidFill>
                  <a:srgbClr val="E2E8F0"/>
                </a:solidFill>
                <a:latin typeface="Calibri" pitchFamily="34" charset="0"/>
                <a:ea typeface="Calibri" pitchFamily="34" charset="-122"/>
                <a:cs typeface="Calibri" pitchFamily="34" charset="-120"/>
              </a:rPr>
              <a:t>Console dédiée à la validation d'un éditeur comme média reconnu dans Google Actualités et Discover.</a:t>
            </a:r>
            <a:endParaRPr lang="en-US" sz="1200" dirty="0"/>
          </a:p>
        </p:txBody>
      </p:sp>
      <p:sp>
        <p:nvSpPr>
          <p:cNvPr id="32" name="Text 30"/>
          <p:cNvSpPr/>
          <p:nvPr/>
        </p:nvSpPr>
        <p:spPr>
          <a:xfrm>
            <a:off x="6583680" y="3291840"/>
            <a:ext cx="4754880" cy="3017520"/>
          </a:xfrm>
          <a:prstGeom prst="rect">
            <a:avLst/>
          </a:prstGeom>
          <a:noFill/>
          <a:ln/>
        </p:spPr>
        <p:txBody>
          <a:bodyPr wrap="square" rtlCol="0" anchor="ctr"/>
          <a:lstStyle/>
          <a:p>
            <a:pPr marL="342900" indent="-3429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Publication Altitude Trail créée : nom, logo carré + rectangulaire, description, catégories Sports, FR, Europe/Paris</a:t>
            </a:r>
            <a:endParaRPr lang="en-US" sz="1050" dirty="0"/>
          </a:p>
          <a:p>
            <a:pPr marL="342900" indent="-3429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Update Google de mars 2025 : Google News génère désormais automatiquement la page publication depuis les signaux techniques (JSON-LD + news-sitemap + Organization)</a:t>
            </a:r>
            <a:endParaRPr lang="en-US" sz="1050" dirty="0"/>
          </a:p>
          <a:p>
            <a:pPr marL="342900" indent="-3429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Statut : validation des règles éditoriales (&lt; 14 jours), pas bloquant pour apparition dans Discover</a:t>
            </a:r>
            <a:endParaRPr lang="en-US" sz="1050" dirty="0"/>
          </a:p>
          <a:p>
            <a:pPr marL="342900" indent="-3429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Reader Revenue Manager disponible pour monétisation future (paywall, sondages, dons)</a:t>
            </a:r>
            <a:endParaRPr lang="en-US" sz="1050" dirty="0"/>
          </a:p>
          <a:p>
            <a:pPr marL="342900" indent="-342900">
              <a:spcAft>
                <a:spcPts val="500"/>
              </a:spcAft>
              <a:buSzPct val="100000"/>
              <a:buChar char="•"/>
            </a:pPr>
            <a:r>
              <a:rPr lang="en-US" sz="1050" dirty="0">
                <a:solidFill>
                  <a:srgbClr val="FFFFFF"/>
                </a:solidFill>
                <a:latin typeface="Calibri" pitchFamily="34" charset="0"/>
                <a:ea typeface="Calibri" pitchFamily="34" charset="-122"/>
                <a:cs typeface="Calibri" pitchFamily="34" charset="-120"/>
              </a:rPr>
              <a:t>Éligibilité Google News Showcase (programme rémunéré) à terme, si volume de publication + qualité éditoriale tiennent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10</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SEO ÉDITORIAL &amp; E-E-A-T</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200" b="1" dirty="0">
                <a:solidFill>
                  <a:srgbClr val="0B1C30"/>
                </a:solidFill>
                <a:latin typeface="Georgia" pitchFamily="34" charset="0"/>
                <a:ea typeface="Georgia" pitchFamily="34" charset="-122"/>
                <a:cs typeface="Georgia" pitchFamily="34" charset="-120"/>
              </a:rPr>
              <a:t>Signaux de confiance (E-E-A-T) renforcés</a:t>
            </a:r>
            <a:endParaRPr lang="en-US" sz="2200" dirty="0"/>
          </a:p>
        </p:txBody>
      </p:sp>
      <p:sp>
        <p:nvSpPr>
          <p:cNvPr id="6" name="Text 4"/>
          <p:cNvSpPr/>
          <p:nvPr/>
        </p:nvSpPr>
        <p:spPr>
          <a:xfrm>
            <a:off x="640080" y="1965960"/>
            <a:ext cx="5486400" cy="365760"/>
          </a:xfrm>
          <a:prstGeom prst="rect">
            <a:avLst/>
          </a:prstGeom>
          <a:noFill/>
          <a:ln/>
        </p:spPr>
        <p:txBody>
          <a:bodyPr wrap="square" rtlCol="0" anchor="ctr"/>
          <a:lstStyle/>
          <a:p>
            <a:pPr indent="0" marL="0">
              <a:buNone/>
            </a:pPr>
            <a:r>
              <a:rPr lang="en-US" sz="1300" b="1" spc="300" kern="0" dirty="0">
                <a:solidFill>
                  <a:srgbClr val="FF4500"/>
                </a:solidFill>
                <a:latin typeface="Calibri" pitchFamily="34" charset="0"/>
                <a:ea typeface="Calibri" pitchFamily="34" charset="-122"/>
                <a:cs typeface="Calibri" pitchFamily="34" charset="-120"/>
              </a:rPr>
              <a:t>E-E-A-T — Google Publisher Standards</a:t>
            </a:r>
            <a:endParaRPr lang="en-US" sz="1300" dirty="0"/>
          </a:p>
        </p:txBody>
      </p:sp>
      <p:sp>
        <p:nvSpPr>
          <p:cNvPr id="7" name="Shape 5"/>
          <p:cNvSpPr/>
          <p:nvPr/>
        </p:nvSpPr>
        <p:spPr>
          <a:xfrm>
            <a:off x="685800" y="2505456"/>
            <a:ext cx="164592" cy="164592"/>
          </a:xfrm>
          <a:prstGeom prst="ellipse">
            <a:avLst/>
          </a:prstGeom>
          <a:solidFill>
            <a:srgbClr val="FF4500"/>
          </a:solidFill>
          <a:ln w="12700">
            <a:solidFill>
              <a:srgbClr val="FF4500"/>
            </a:solidFill>
            <a:prstDash val="solid"/>
          </a:ln>
        </p:spPr>
      </p:sp>
      <p:sp>
        <p:nvSpPr>
          <p:cNvPr id="8" name="Text 6"/>
          <p:cNvSpPr/>
          <p:nvPr/>
        </p:nvSpPr>
        <p:spPr>
          <a:xfrm>
            <a:off x="960120" y="2468880"/>
            <a:ext cx="5120640" cy="27432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4 auteurs nommés</a:t>
            </a:r>
            <a:endParaRPr lang="en-US" sz="1200" dirty="0"/>
          </a:p>
        </p:txBody>
      </p:sp>
      <p:sp>
        <p:nvSpPr>
          <p:cNvPr id="9" name="Text 7"/>
          <p:cNvSpPr/>
          <p:nvPr/>
        </p:nvSpPr>
        <p:spPr>
          <a:xfrm>
            <a:off x="960120" y="2724912"/>
            <a:ext cx="5120640" cy="32004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Pages /auteurs/[slug] avec JSON-LD Person. Rotation déterministe 80/20.</a:t>
            </a:r>
            <a:endParaRPr lang="en-US" sz="1000" dirty="0"/>
          </a:p>
        </p:txBody>
      </p:sp>
      <p:sp>
        <p:nvSpPr>
          <p:cNvPr id="10" name="Shape 8"/>
          <p:cNvSpPr/>
          <p:nvPr/>
        </p:nvSpPr>
        <p:spPr>
          <a:xfrm>
            <a:off x="685800" y="3127248"/>
            <a:ext cx="164592" cy="164592"/>
          </a:xfrm>
          <a:prstGeom prst="ellipse">
            <a:avLst/>
          </a:prstGeom>
          <a:solidFill>
            <a:srgbClr val="FF4500"/>
          </a:solidFill>
          <a:ln w="12700">
            <a:solidFill>
              <a:srgbClr val="FF4500"/>
            </a:solidFill>
            <a:prstDash val="solid"/>
          </a:ln>
        </p:spPr>
      </p:sp>
      <p:sp>
        <p:nvSpPr>
          <p:cNvPr id="11" name="Text 9"/>
          <p:cNvSpPr/>
          <p:nvPr/>
        </p:nvSpPr>
        <p:spPr>
          <a:xfrm>
            <a:off x="960120" y="3090672"/>
            <a:ext cx="5120640" cy="27432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Charte éditoriale publique</a:t>
            </a:r>
            <a:endParaRPr lang="en-US" sz="1200" dirty="0"/>
          </a:p>
        </p:txBody>
      </p:sp>
      <p:sp>
        <p:nvSpPr>
          <p:cNvPr id="12" name="Text 10"/>
          <p:cNvSpPr/>
          <p:nvPr/>
        </p:nvSpPr>
        <p:spPr>
          <a:xfrm>
            <a:off x="960120" y="3346704"/>
            <a:ext cx="5120640" cy="32004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Ligne claire sur usage de l'IA, politique de correction, conflits d'intérêts.</a:t>
            </a:r>
            <a:endParaRPr lang="en-US" sz="1000" dirty="0"/>
          </a:p>
        </p:txBody>
      </p:sp>
      <p:sp>
        <p:nvSpPr>
          <p:cNvPr id="13" name="Shape 11"/>
          <p:cNvSpPr/>
          <p:nvPr/>
        </p:nvSpPr>
        <p:spPr>
          <a:xfrm>
            <a:off x="685800" y="3749040"/>
            <a:ext cx="164592" cy="164592"/>
          </a:xfrm>
          <a:prstGeom prst="ellipse">
            <a:avLst/>
          </a:prstGeom>
          <a:solidFill>
            <a:srgbClr val="FF4500"/>
          </a:solidFill>
          <a:ln w="12700">
            <a:solidFill>
              <a:srgbClr val="FF4500"/>
            </a:solidFill>
            <a:prstDash val="solid"/>
          </a:ln>
        </p:spPr>
      </p:sp>
      <p:sp>
        <p:nvSpPr>
          <p:cNvPr id="14" name="Text 12"/>
          <p:cNvSpPr/>
          <p:nvPr/>
        </p:nvSpPr>
        <p:spPr>
          <a:xfrm>
            <a:off x="960120" y="3712464"/>
            <a:ext cx="5120640" cy="27432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Pillar page de référence</a:t>
            </a:r>
            <a:endParaRPr lang="en-US" sz="1200" dirty="0"/>
          </a:p>
        </p:txBody>
      </p:sp>
      <p:sp>
        <p:nvSpPr>
          <p:cNvPr id="15" name="Text 13"/>
          <p:cNvSpPr/>
          <p:nvPr/>
        </p:nvSpPr>
        <p:spPr>
          <a:xfrm>
            <a:off x="960120" y="3968496"/>
            <a:ext cx="5120640" cy="32004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Guide UTMB complet (5000 mots, FAQ + HowTo structuré).</a:t>
            </a:r>
            <a:endParaRPr lang="en-US" sz="1000" dirty="0"/>
          </a:p>
        </p:txBody>
      </p:sp>
      <p:sp>
        <p:nvSpPr>
          <p:cNvPr id="16" name="Shape 14"/>
          <p:cNvSpPr/>
          <p:nvPr/>
        </p:nvSpPr>
        <p:spPr>
          <a:xfrm>
            <a:off x="685800" y="4370832"/>
            <a:ext cx="164592" cy="164592"/>
          </a:xfrm>
          <a:prstGeom prst="ellipse">
            <a:avLst/>
          </a:prstGeom>
          <a:solidFill>
            <a:srgbClr val="FF4500"/>
          </a:solidFill>
          <a:ln w="12700">
            <a:solidFill>
              <a:srgbClr val="FF4500"/>
            </a:solidFill>
            <a:prstDash val="solid"/>
          </a:ln>
        </p:spPr>
      </p:sp>
      <p:sp>
        <p:nvSpPr>
          <p:cNvPr id="17" name="Text 15"/>
          <p:cNvSpPr/>
          <p:nvPr/>
        </p:nvSpPr>
        <p:spPr>
          <a:xfrm>
            <a:off x="960120" y="4334256"/>
            <a:ext cx="5120640" cy="27432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Page /lexique</a:t>
            </a:r>
            <a:endParaRPr lang="en-US" sz="1200" dirty="0"/>
          </a:p>
        </p:txBody>
      </p:sp>
      <p:sp>
        <p:nvSpPr>
          <p:cNvPr id="18" name="Text 16"/>
          <p:cNvSpPr/>
          <p:nvPr/>
        </p:nvSpPr>
        <p:spPr>
          <a:xfrm>
            <a:off x="960120" y="4590288"/>
            <a:ext cx="5120640" cy="32004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40 termes trail expliqués, maillage vers articles spécifiques.</a:t>
            </a:r>
            <a:endParaRPr lang="en-US" sz="1000" dirty="0"/>
          </a:p>
        </p:txBody>
      </p:sp>
      <p:sp>
        <p:nvSpPr>
          <p:cNvPr id="19" name="Shape 17"/>
          <p:cNvSpPr/>
          <p:nvPr/>
        </p:nvSpPr>
        <p:spPr>
          <a:xfrm>
            <a:off x="685800" y="4992624"/>
            <a:ext cx="164592" cy="164592"/>
          </a:xfrm>
          <a:prstGeom prst="ellipse">
            <a:avLst/>
          </a:prstGeom>
          <a:solidFill>
            <a:srgbClr val="FF4500"/>
          </a:solidFill>
          <a:ln w="12700">
            <a:solidFill>
              <a:srgbClr val="FF4500"/>
            </a:solidFill>
            <a:prstDash val="solid"/>
          </a:ln>
        </p:spPr>
      </p:sp>
      <p:sp>
        <p:nvSpPr>
          <p:cNvPr id="20" name="Text 18"/>
          <p:cNvSpPr/>
          <p:nvPr/>
        </p:nvSpPr>
        <p:spPr>
          <a:xfrm>
            <a:off x="960120" y="4956048"/>
            <a:ext cx="5120640" cy="27432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Style éditorial cadré</a:t>
            </a:r>
            <a:endParaRPr lang="en-US" sz="1200" dirty="0"/>
          </a:p>
        </p:txBody>
      </p:sp>
      <p:sp>
        <p:nvSpPr>
          <p:cNvPr id="21" name="Text 19"/>
          <p:cNvSpPr/>
          <p:nvPr/>
        </p:nvSpPr>
        <p:spPr>
          <a:xfrm>
            <a:off x="960120" y="5212080"/>
            <a:ext cx="5120640" cy="32004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Interdits formels (cadratins, dollars, anglicismes superflus).</a:t>
            </a:r>
            <a:endParaRPr lang="en-US" sz="1000" dirty="0"/>
          </a:p>
        </p:txBody>
      </p:sp>
      <p:sp>
        <p:nvSpPr>
          <p:cNvPr id="22" name="Shape 20"/>
          <p:cNvSpPr/>
          <p:nvPr/>
        </p:nvSpPr>
        <p:spPr>
          <a:xfrm>
            <a:off x="685800" y="5614416"/>
            <a:ext cx="164592" cy="164592"/>
          </a:xfrm>
          <a:prstGeom prst="ellipse">
            <a:avLst/>
          </a:prstGeom>
          <a:solidFill>
            <a:srgbClr val="FF4500"/>
          </a:solidFill>
          <a:ln w="12700">
            <a:solidFill>
              <a:srgbClr val="FF4500"/>
            </a:solidFill>
            <a:prstDash val="solid"/>
          </a:ln>
        </p:spPr>
      </p:sp>
      <p:sp>
        <p:nvSpPr>
          <p:cNvPr id="23" name="Text 21"/>
          <p:cNvSpPr/>
          <p:nvPr/>
        </p:nvSpPr>
        <p:spPr>
          <a:xfrm>
            <a:off x="960120" y="5577840"/>
            <a:ext cx="5120640" cy="27432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Dates updatedAt</a:t>
            </a:r>
            <a:endParaRPr lang="en-US" sz="1200" dirty="0"/>
          </a:p>
        </p:txBody>
      </p:sp>
      <p:sp>
        <p:nvSpPr>
          <p:cNvPr id="24" name="Text 22"/>
          <p:cNvSpPr/>
          <p:nvPr/>
        </p:nvSpPr>
        <p:spPr>
          <a:xfrm>
            <a:off x="960120" y="5833872"/>
            <a:ext cx="5120640" cy="320040"/>
          </a:xfrm>
          <a:prstGeom prst="rect">
            <a:avLst/>
          </a:prstGeom>
          <a:noFill/>
          <a:ln/>
        </p:spPr>
        <p:txBody>
          <a:bodyPr wrap="square" rtlCol="0" anchor="ctr"/>
          <a:lstStyle/>
          <a:p>
            <a:pPr indent="0" marL="0">
              <a:buNone/>
            </a:pPr>
            <a:r>
              <a:rPr lang="en-US" sz="1000" dirty="0">
                <a:solidFill>
                  <a:srgbClr val="5A6A80"/>
                </a:solidFill>
                <a:latin typeface="Calibri" pitchFamily="34" charset="0"/>
                <a:ea typeface="Calibri" pitchFamily="34" charset="-122"/>
                <a:cs typeface="Calibri" pitchFamily="34" charset="-120"/>
              </a:rPr>
              <a:t>Champ visible + dateModified dans JSON-LD = signal de fraîcheur Google.</a:t>
            </a:r>
            <a:endParaRPr lang="en-US" sz="1000" dirty="0"/>
          </a:p>
        </p:txBody>
      </p:sp>
      <p:sp>
        <p:nvSpPr>
          <p:cNvPr id="25" name="Shape 23"/>
          <p:cNvSpPr/>
          <p:nvPr/>
        </p:nvSpPr>
        <p:spPr>
          <a:xfrm>
            <a:off x="6675120" y="1965960"/>
            <a:ext cx="4937760" cy="4389120"/>
          </a:xfrm>
          <a:prstGeom prst="rect">
            <a:avLst/>
          </a:prstGeom>
          <a:solidFill>
            <a:srgbClr val="0B1C30"/>
          </a:solidFill>
          <a:ln w="12700">
            <a:solidFill>
              <a:srgbClr val="0B1C30"/>
            </a:solidFill>
            <a:prstDash val="solid"/>
          </a:ln>
        </p:spPr>
      </p:sp>
      <p:sp>
        <p:nvSpPr>
          <p:cNvPr id="26" name="Shape 24"/>
          <p:cNvSpPr/>
          <p:nvPr/>
        </p:nvSpPr>
        <p:spPr>
          <a:xfrm>
            <a:off x="6675120" y="1965960"/>
            <a:ext cx="4937760" cy="73152"/>
          </a:xfrm>
          <a:prstGeom prst="rect">
            <a:avLst/>
          </a:prstGeom>
          <a:solidFill>
            <a:srgbClr val="FF4500"/>
          </a:solidFill>
          <a:ln w="12700">
            <a:solidFill>
              <a:srgbClr val="FF4500"/>
            </a:solidFill>
            <a:prstDash val="solid"/>
          </a:ln>
        </p:spPr>
      </p:sp>
      <p:sp>
        <p:nvSpPr>
          <p:cNvPr id="27" name="Text 25"/>
          <p:cNvSpPr/>
          <p:nvPr/>
        </p:nvSpPr>
        <p:spPr>
          <a:xfrm>
            <a:off x="6903720" y="2176272"/>
            <a:ext cx="448056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RÈGLES DE STYLE APPLIQUÉES</a:t>
            </a:r>
            <a:endParaRPr lang="en-US" sz="1300" dirty="0"/>
          </a:p>
        </p:txBody>
      </p:sp>
      <p:sp>
        <p:nvSpPr>
          <p:cNvPr id="28" name="Text 26"/>
          <p:cNvSpPr/>
          <p:nvPr/>
        </p:nvSpPr>
        <p:spPr>
          <a:xfrm>
            <a:off x="6903720" y="2697480"/>
            <a:ext cx="4480560" cy="3520440"/>
          </a:xfrm>
          <a:prstGeom prst="rect">
            <a:avLst/>
          </a:prstGeom>
          <a:noFill/>
          <a:ln/>
        </p:spPr>
        <p:txBody>
          <a:bodyPr wrap="square" rtlCol="0" anchor="ctr"/>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Pas de cadratins (tirets longs) — max 1 à 2 par article</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Toutes les monnaies converties en euros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Anglicismes limités (shoes → chaussures, gear → équipement)</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Pas de clickbait, de tout-majuscules, d'emojis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Sources citées nommément dans le corps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Zéro invention : aucune citation, témoignage ou chiffre fabriqué</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Renforcement obligatoire dans les plans (BJSM 2018 citée)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06</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MOTEUR D'ENTRAÎNEMENT PERSONNALISÉ</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De la saisie à la livraison du plan</a:t>
            </a:r>
            <a:endParaRPr lang="en-US" sz="2400" dirty="0"/>
          </a:p>
        </p:txBody>
      </p:sp>
      <p:sp>
        <p:nvSpPr>
          <p:cNvPr id="6" name="Shape 4"/>
          <p:cNvSpPr/>
          <p:nvPr/>
        </p:nvSpPr>
        <p:spPr>
          <a:xfrm>
            <a:off x="640080" y="2057400"/>
            <a:ext cx="2194560" cy="2011680"/>
          </a:xfrm>
          <a:prstGeom prst="rect">
            <a:avLst/>
          </a:prstGeom>
          <a:solidFill>
            <a:srgbClr val="F8F9FF"/>
          </a:solidFill>
          <a:ln w="12700">
            <a:solidFill>
              <a:srgbClr val="E5EEFF"/>
            </a:solidFill>
            <a:prstDash val="solid"/>
          </a:ln>
        </p:spPr>
      </p:sp>
      <p:sp>
        <p:nvSpPr>
          <p:cNvPr id="7" name="Shape 5"/>
          <p:cNvSpPr/>
          <p:nvPr/>
        </p:nvSpPr>
        <p:spPr>
          <a:xfrm>
            <a:off x="777240" y="2194560"/>
            <a:ext cx="502920" cy="502920"/>
          </a:xfrm>
          <a:prstGeom prst="ellipse">
            <a:avLst/>
          </a:prstGeom>
          <a:solidFill>
            <a:srgbClr val="FF4500"/>
          </a:solidFill>
          <a:ln w="12700">
            <a:solidFill>
              <a:srgbClr val="FF4500"/>
            </a:solidFill>
            <a:prstDash val="solid"/>
          </a:ln>
        </p:spPr>
      </p:sp>
      <p:sp>
        <p:nvSpPr>
          <p:cNvPr id="8" name="Text 6"/>
          <p:cNvSpPr/>
          <p:nvPr/>
        </p:nvSpPr>
        <p:spPr>
          <a:xfrm>
            <a:off x="777240" y="2240280"/>
            <a:ext cx="502920" cy="4572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9" name="Text 7"/>
          <p:cNvSpPr/>
          <p:nvPr/>
        </p:nvSpPr>
        <p:spPr>
          <a:xfrm>
            <a:off x="777240" y="2788920"/>
            <a:ext cx="1920240" cy="457200"/>
          </a:xfrm>
          <a:prstGeom prst="rect">
            <a:avLst/>
          </a:prstGeom>
          <a:noFill/>
          <a:ln/>
        </p:spPr>
        <p:txBody>
          <a:bodyPr wrap="square" rtlCol="0" anchor="ctr"/>
          <a:lstStyle/>
          <a:p>
            <a:pPr indent="0" marL="0">
              <a:buNone/>
            </a:pPr>
            <a:r>
              <a:rPr lang="en-US" sz="1300" b="1" dirty="0">
                <a:solidFill>
                  <a:srgbClr val="0B1C30"/>
                </a:solidFill>
                <a:latin typeface="Georgia" pitchFamily="34" charset="0"/>
                <a:ea typeface="Georgia" pitchFamily="34" charset="-122"/>
                <a:cs typeface="Georgia" pitchFamily="34" charset="-120"/>
              </a:rPr>
              <a:t>Wizard 4 étapes</a:t>
            </a:r>
            <a:endParaRPr lang="en-US" sz="1300" dirty="0"/>
          </a:p>
        </p:txBody>
      </p:sp>
      <p:sp>
        <p:nvSpPr>
          <p:cNvPr id="10" name="Text 8"/>
          <p:cNvSpPr/>
          <p:nvPr/>
        </p:nvSpPr>
        <p:spPr>
          <a:xfrm>
            <a:off x="777240" y="3246120"/>
            <a:ext cx="1920240" cy="777240"/>
          </a:xfrm>
          <a:prstGeom prst="rect">
            <a:avLst/>
          </a:prstGeom>
          <a:noFill/>
          <a:ln/>
        </p:spPr>
        <p:txBody>
          <a:bodyPr wrap="square" rtlCol="0" anchor="ctr"/>
          <a:lstStyle/>
          <a:p>
            <a:pPr indent="0" marL="0">
              <a:spcAft>
                <a:spcPts val="200"/>
              </a:spcAft>
              <a:buNone/>
            </a:pPr>
            <a:r>
              <a:rPr lang="en-US" sz="1000" dirty="0">
                <a:solidFill>
                  <a:srgbClr val="5A6A80"/>
                </a:solidFill>
                <a:latin typeface="Calibri" pitchFamily="34" charset="0"/>
                <a:ea typeface="Calibri" pitchFamily="34" charset="-122"/>
                <a:cs typeface="Calibri" pitchFamily="34" charset="-120"/>
              </a:rPr>
              <a:t>Identité + profil coureur + course cible + consentement RGPD. 10 champs.</a:t>
            </a:r>
            <a:endParaRPr lang="en-US" sz="1000" dirty="0"/>
          </a:p>
        </p:txBody>
      </p:sp>
      <p:sp>
        <p:nvSpPr>
          <p:cNvPr id="11" name="Shape 9"/>
          <p:cNvSpPr/>
          <p:nvPr/>
        </p:nvSpPr>
        <p:spPr>
          <a:xfrm>
            <a:off x="2971800" y="2057400"/>
            <a:ext cx="2194560" cy="2011680"/>
          </a:xfrm>
          <a:prstGeom prst="rect">
            <a:avLst/>
          </a:prstGeom>
          <a:solidFill>
            <a:srgbClr val="F8F9FF"/>
          </a:solidFill>
          <a:ln w="12700">
            <a:solidFill>
              <a:srgbClr val="E5EEFF"/>
            </a:solidFill>
            <a:prstDash val="solid"/>
          </a:ln>
        </p:spPr>
      </p:sp>
      <p:sp>
        <p:nvSpPr>
          <p:cNvPr id="12" name="Shape 10"/>
          <p:cNvSpPr/>
          <p:nvPr/>
        </p:nvSpPr>
        <p:spPr>
          <a:xfrm>
            <a:off x="3108960" y="2194560"/>
            <a:ext cx="502920" cy="502920"/>
          </a:xfrm>
          <a:prstGeom prst="ellipse">
            <a:avLst/>
          </a:prstGeom>
          <a:solidFill>
            <a:srgbClr val="FF4500"/>
          </a:solidFill>
          <a:ln w="12700">
            <a:solidFill>
              <a:srgbClr val="FF4500"/>
            </a:solidFill>
            <a:prstDash val="solid"/>
          </a:ln>
        </p:spPr>
      </p:sp>
      <p:sp>
        <p:nvSpPr>
          <p:cNvPr id="13" name="Text 11"/>
          <p:cNvSpPr/>
          <p:nvPr/>
        </p:nvSpPr>
        <p:spPr>
          <a:xfrm>
            <a:off x="3108960" y="2240280"/>
            <a:ext cx="502920" cy="4572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4" name="Text 12"/>
          <p:cNvSpPr/>
          <p:nvPr/>
        </p:nvSpPr>
        <p:spPr>
          <a:xfrm>
            <a:off x="3108960" y="2788920"/>
            <a:ext cx="1920240" cy="457200"/>
          </a:xfrm>
          <a:prstGeom prst="rect">
            <a:avLst/>
          </a:prstGeom>
          <a:noFill/>
          <a:ln/>
        </p:spPr>
        <p:txBody>
          <a:bodyPr wrap="square" rtlCol="0" anchor="ctr"/>
          <a:lstStyle/>
          <a:p>
            <a:pPr indent="0" marL="0">
              <a:buNone/>
            </a:pPr>
            <a:r>
              <a:rPr lang="en-US" sz="1300" b="1" dirty="0">
                <a:solidFill>
                  <a:srgbClr val="0B1C30"/>
                </a:solidFill>
                <a:latin typeface="Georgia" pitchFamily="34" charset="0"/>
                <a:ea typeface="Georgia" pitchFamily="34" charset="-122"/>
                <a:cs typeface="Georgia" pitchFamily="34" charset="-120"/>
              </a:rPr>
              <a:t>API /plan-generateur</a:t>
            </a:r>
            <a:endParaRPr lang="en-US" sz="1300" dirty="0"/>
          </a:p>
        </p:txBody>
      </p:sp>
      <p:sp>
        <p:nvSpPr>
          <p:cNvPr id="15" name="Text 13"/>
          <p:cNvSpPr/>
          <p:nvPr/>
        </p:nvSpPr>
        <p:spPr>
          <a:xfrm>
            <a:off x="3108960" y="3246120"/>
            <a:ext cx="1920240" cy="777240"/>
          </a:xfrm>
          <a:prstGeom prst="rect">
            <a:avLst/>
          </a:prstGeom>
          <a:noFill/>
          <a:ln/>
        </p:spPr>
        <p:txBody>
          <a:bodyPr wrap="square" rtlCol="0" anchor="ctr"/>
          <a:lstStyle/>
          <a:p>
            <a:pPr indent="0" marL="0">
              <a:spcAft>
                <a:spcPts val="200"/>
              </a:spcAft>
              <a:buNone/>
            </a:pPr>
            <a:r>
              <a:rPr lang="en-US" sz="1000" dirty="0">
                <a:solidFill>
                  <a:srgbClr val="5A6A80"/>
                </a:solidFill>
                <a:latin typeface="Calibri" pitchFamily="34" charset="0"/>
                <a:ea typeface="Calibri" pitchFamily="34" charset="-122"/>
                <a:cs typeface="Calibri" pitchFamily="34" charset="-120"/>
              </a:rPr>
              <a:t>Validation + stockage Supabase pending + accessToken unique.</a:t>
            </a:r>
            <a:endParaRPr lang="en-US" sz="1000" dirty="0"/>
          </a:p>
        </p:txBody>
      </p:sp>
      <p:sp>
        <p:nvSpPr>
          <p:cNvPr id="16" name="Shape 14"/>
          <p:cNvSpPr/>
          <p:nvPr/>
        </p:nvSpPr>
        <p:spPr>
          <a:xfrm>
            <a:off x="5303520" y="2057400"/>
            <a:ext cx="2194560" cy="2011680"/>
          </a:xfrm>
          <a:prstGeom prst="rect">
            <a:avLst/>
          </a:prstGeom>
          <a:solidFill>
            <a:srgbClr val="F8F9FF"/>
          </a:solidFill>
          <a:ln w="12700">
            <a:solidFill>
              <a:srgbClr val="E5EEFF"/>
            </a:solidFill>
            <a:prstDash val="solid"/>
          </a:ln>
        </p:spPr>
      </p:sp>
      <p:sp>
        <p:nvSpPr>
          <p:cNvPr id="17" name="Shape 15"/>
          <p:cNvSpPr/>
          <p:nvPr/>
        </p:nvSpPr>
        <p:spPr>
          <a:xfrm>
            <a:off x="5440680" y="2194560"/>
            <a:ext cx="502920" cy="502920"/>
          </a:xfrm>
          <a:prstGeom prst="ellipse">
            <a:avLst/>
          </a:prstGeom>
          <a:solidFill>
            <a:srgbClr val="FF4500"/>
          </a:solidFill>
          <a:ln w="12700">
            <a:solidFill>
              <a:srgbClr val="FF4500"/>
            </a:solidFill>
            <a:prstDash val="solid"/>
          </a:ln>
        </p:spPr>
      </p:sp>
      <p:sp>
        <p:nvSpPr>
          <p:cNvPr id="18" name="Text 16"/>
          <p:cNvSpPr/>
          <p:nvPr/>
        </p:nvSpPr>
        <p:spPr>
          <a:xfrm>
            <a:off x="5440680" y="2240280"/>
            <a:ext cx="502920" cy="4572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9" name="Text 17"/>
          <p:cNvSpPr/>
          <p:nvPr/>
        </p:nvSpPr>
        <p:spPr>
          <a:xfrm>
            <a:off x="5440680" y="2788920"/>
            <a:ext cx="1920240" cy="457200"/>
          </a:xfrm>
          <a:prstGeom prst="rect">
            <a:avLst/>
          </a:prstGeom>
          <a:noFill/>
          <a:ln/>
        </p:spPr>
        <p:txBody>
          <a:bodyPr wrap="square" rtlCol="0" anchor="ctr"/>
          <a:lstStyle/>
          <a:p>
            <a:pPr indent="0" marL="0">
              <a:buNone/>
            </a:pPr>
            <a:r>
              <a:rPr lang="en-US" sz="1300" b="1" dirty="0">
                <a:solidFill>
                  <a:srgbClr val="0B1C30"/>
                </a:solidFill>
                <a:latin typeface="Georgia" pitchFamily="34" charset="0"/>
                <a:ea typeface="Georgia" pitchFamily="34" charset="-122"/>
                <a:cs typeface="Georgia" pitchFamily="34" charset="-120"/>
              </a:rPr>
              <a:t>Claude Sonnet 4.6</a:t>
            </a:r>
            <a:endParaRPr lang="en-US" sz="1300" dirty="0"/>
          </a:p>
        </p:txBody>
      </p:sp>
      <p:sp>
        <p:nvSpPr>
          <p:cNvPr id="20" name="Text 18"/>
          <p:cNvSpPr/>
          <p:nvPr/>
        </p:nvSpPr>
        <p:spPr>
          <a:xfrm>
            <a:off x="5440680" y="3246120"/>
            <a:ext cx="1920240" cy="777240"/>
          </a:xfrm>
          <a:prstGeom prst="rect">
            <a:avLst/>
          </a:prstGeom>
          <a:noFill/>
          <a:ln/>
        </p:spPr>
        <p:txBody>
          <a:bodyPr wrap="square" rtlCol="0" anchor="ctr"/>
          <a:lstStyle/>
          <a:p>
            <a:pPr indent="0" marL="0">
              <a:spcAft>
                <a:spcPts val="200"/>
              </a:spcAft>
              <a:buNone/>
            </a:pPr>
            <a:r>
              <a:rPr lang="en-US" sz="1000" dirty="0">
                <a:solidFill>
                  <a:srgbClr val="5A6A80"/>
                </a:solidFill>
                <a:latin typeface="Calibri" pitchFamily="34" charset="0"/>
                <a:ea typeface="Calibri" pitchFamily="34" charset="-122"/>
                <a:cs typeface="Calibri" pitchFamily="34" charset="-120"/>
              </a:rPr>
              <a:t>Génération JSON structuré en arrière-plan (waitUntil). 30-90s.</a:t>
            </a:r>
            <a:endParaRPr lang="en-US" sz="1000" dirty="0"/>
          </a:p>
        </p:txBody>
      </p:sp>
      <p:sp>
        <p:nvSpPr>
          <p:cNvPr id="21" name="Shape 19"/>
          <p:cNvSpPr/>
          <p:nvPr/>
        </p:nvSpPr>
        <p:spPr>
          <a:xfrm>
            <a:off x="7635240" y="2057400"/>
            <a:ext cx="2194560" cy="2011680"/>
          </a:xfrm>
          <a:prstGeom prst="rect">
            <a:avLst/>
          </a:prstGeom>
          <a:solidFill>
            <a:srgbClr val="F8F9FF"/>
          </a:solidFill>
          <a:ln w="12700">
            <a:solidFill>
              <a:srgbClr val="E5EEFF"/>
            </a:solidFill>
            <a:prstDash val="solid"/>
          </a:ln>
        </p:spPr>
      </p:sp>
      <p:sp>
        <p:nvSpPr>
          <p:cNvPr id="22" name="Shape 20"/>
          <p:cNvSpPr/>
          <p:nvPr/>
        </p:nvSpPr>
        <p:spPr>
          <a:xfrm>
            <a:off x="7772400" y="2194560"/>
            <a:ext cx="502920" cy="502920"/>
          </a:xfrm>
          <a:prstGeom prst="ellipse">
            <a:avLst/>
          </a:prstGeom>
          <a:solidFill>
            <a:srgbClr val="FF4500"/>
          </a:solidFill>
          <a:ln w="12700">
            <a:solidFill>
              <a:srgbClr val="FF4500"/>
            </a:solidFill>
            <a:prstDash val="solid"/>
          </a:ln>
        </p:spPr>
      </p:sp>
      <p:sp>
        <p:nvSpPr>
          <p:cNvPr id="23" name="Text 21"/>
          <p:cNvSpPr/>
          <p:nvPr/>
        </p:nvSpPr>
        <p:spPr>
          <a:xfrm>
            <a:off x="7772400" y="2240280"/>
            <a:ext cx="502920" cy="4572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4</a:t>
            </a:r>
            <a:endParaRPr lang="en-US" sz="2200" dirty="0"/>
          </a:p>
        </p:txBody>
      </p:sp>
      <p:sp>
        <p:nvSpPr>
          <p:cNvPr id="24" name="Text 22"/>
          <p:cNvSpPr/>
          <p:nvPr/>
        </p:nvSpPr>
        <p:spPr>
          <a:xfrm>
            <a:off x="7772400" y="2788920"/>
            <a:ext cx="1920240" cy="457200"/>
          </a:xfrm>
          <a:prstGeom prst="rect">
            <a:avLst/>
          </a:prstGeom>
          <a:noFill/>
          <a:ln/>
        </p:spPr>
        <p:txBody>
          <a:bodyPr wrap="square" rtlCol="0" anchor="ctr"/>
          <a:lstStyle/>
          <a:p>
            <a:pPr indent="0" marL="0">
              <a:buNone/>
            </a:pPr>
            <a:r>
              <a:rPr lang="en-US" sz="1300" b="1" dirty="0">
                <a:solidFill>
                  <a:srgbClr val="0B1C30"/>
                </a:solidFill>
                <a:latin typeface="Georgia" pitchFamily="34" charset="0"/>
                <a:ea typeface="Georgia" pitchFamily="34" charset="-122"/>
                <a:cs typeface="Georgia" pitchFamily="34" charset="-120"/>
              </a:rPr>
              <a:t>Email magic link</a:t>
            </a:r>
            <a:endParaRPr lang="en-US" sz="1300" dirty="0"/>
          </a:p>
        </p:txBody>
      </p:sp>
      <p:sp>
        <p:nvSpPr>
          <p:cNvPr id="25" name="Text 23"/>
          <p:cNvSpPr/>
          <p:nvPr/>
        </p:nvSpPr>
        <p:spPr>
          <a:xfrm>
            <a:off x="7772400" y="3246120"/>
            <a:ext cx="1920240" cy="777240"/>
          </a:xfrm>
          <a:prstGeom prst="rect">
            <a:avLst/>
          </a:prstGeom>
          <a:noFill/>
          <a:ln/>
        </p:spPr>
        <p:txBody>
          <a:bodyPr wrap="square" rtlCol="0" anchor="ctr"/>
          <a:lstStyle/>
          <a:p>
            <a:pPr indent="0" marL="0">
              <a:spcAft>
                <a:spcPts val="200"/>
              </a:spcAft>
              <a:buNone/>
            </a:pPr>
            <a:r>
              <a:rPr lang="en-US" sz="1000" dirty="0">
                <a:solidFill>
                  <a:srgbClr val="5A6A80"/>
                </a:solidFill>
                <a:latin typeface="Calibri" pitchFamily="34" charset="0"/>
                <a:ea typeface="Calibri" pitchFamily="34" charset="-122"/>
                <a:cs typeface="Calibri" pitchFamily="34" charset="-120"/>
              </a:rPr>
              <a:t>Envoi Resend dès que le plan est prêt. Lien privé non indexable.</a:t>
            </a:r>
            <a:endParaRPr lang="en-US" sz="1000" dirty="0"/>
          </a:p>
        </p:txBody>
      </p:sp>
      <p:sp>
        <p:nvSpPr>
          <p:cNvPr id="26" name="Shape 24"/>
          <p:cNvSpPr/>
          <p:nvPr/>
        </p:nvSpPr>
        <p:spPr>
          <a:xfrm>
            <a:off x="9966960" y="2057400"/>
            <a:ext cx="2194560" cy="2011680"/>
          </a:xfrm>
          <a:prstGeom prst="rect">
            <a:avLst/>
          </a:prstGeom>
          <a:solidFill>
            <a:srgbClr val="F8F9FF"/>
          </a:solidFill>
          <a:ln w="12700">
            <a:solidFill>
              <a:srgbClr val="E5EEFF"/>
            </a:solidFill>
            <a:prstDash val="solid"/>
          </a:ln>
        </p:spPr>
      </p:sp>
      <p:sp>
        <p:nvSpPr>
          <p:cNvPr id="27" name="Shape 25"/>
          <p:cNvSpPr/>
          <p:nvPr/>
        </p:nvSpPr>
        <p:spPr>
          <a:xfrm>
            <a:off x="10104120" y="2194560"/>
            <a:ext cx="502920" cy="502920"/>
          </a:xfrm>
          <a:prstGeom prst="ellipse">
            <a:avLst/>
          </a:prstGeom>
          <a:solidFill>
            <a:srgbClr val="FF4500"/>
          </a:solidFill>
          <a:ln w="12700">
            <a:solidFill>
              <a:srgbClr val="FF4500"/>
            </a:solidFill>
            <a:prstDash val="solid"/>
          </a:ln>
        </p:spPr>
      </p:sp>
      <p:sp>
        <p:nvSpPr>
          <p:cNvPr id="28" name="Text 26"/>
          <p:cNvSpPr/>
          <p:nvPr/>
        </p:nvSpPr>
        <p:spPr>
          <a:xfrm>
            <a:off x="10104120" y="2240280"/>
            <a:ext cx="502920" cy="4572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5</a:t>
            </a:r>
            <a:endParaRPr lang="en-US" sz="2200" dirty="0"/>
          </a:p>
        </p:txBody>
      </p:sp>
      <p:sp>
        <p:nvSpPr>
          <p:cNvPr id="29" name="Text 27"/>
          <p:cNvSpPr/>
          <p:nvPr/>
        </p:nvSpPr>
        <p:spPr>
          <a:xfrm>
            <a:off x="10104120" y="2788920"/>
            <a:ext cx="1920240" cy="457200"/>
          </a:xfrm>
          <a:prstGeom prst="rect">
            <a:avLst/>
          </a:prstGeom>
          <a:noFill/>
          <a:ln/>
        </p:spPr>
        <p:txBody>
          <a:bodyPr wrap="square" rtlCol="0" anchor="ctr"/>
          <a:lstStyle/>
          <a:p>
            <a:pPr indent="0" marL="0">
              <a:buNone/>
            </a:pPr>
            <a:r>
              <a:rPr lang="en-US" sz="1300" b="1" dirty="0">
                <a:solidFill>
                  <a:srgbClr val="0B1C30"/>
                </a:solidFill>
                <a:latin typeface="Georgia" pitchFamily="34" charset="0"/>
                <a:ea typeface="Georgia" pitchFamily="34" charset="-122"/>
                <a:cs typeface="Georgia" pitchFamily="34" charset="-120"/>
              </a:rPr>
              <a:t>Page /mon-plan/[id]</a:t>
            </a:r>
            <a:endParaRPr lang="en-US" sz="1300" dirty="0"/>
          </a:p>
        </p:txBody>
      </p:sp>
      <p:sp>
        <p:nvSpPr>
          <p:cNvPr id="30" name="Text 28"/>
          <p:cNvSpPr/>
          <p:nvPr/>
        </p:nvSpPr>
        <p:spPr>
          <a:xfrm>
            <a:off x="10104120" y="3246120"/>
            <a:ext cx="1920240" cy="777240"/>
          </a:xfrm>
          <a:prstGeom prst="rect">
            <a:avLst/>
          </a:prstGeom>
          <a:noFill/>
          <a:ln/>
        </p:spPr>
        <p:txBody>
          <a:bodyPr wrap="square" rtlCol="0" anchor="ctr"/>
          <a:lstStyle/>
          <a:p>
            <a:pPr indent="0" marL="0">
              <a:spcAft>
                <a:spcPts val="200"/>
              </a:spcAft>
              <a:buNone/>
            </a:pPr>
            <a:r>
              <a:rPr lang="en-US" sz="1000" dirty="0">
                <a:solidFill>
                  <a:srgbClr val="5A6A80"/>
                </a:solidFill>
                <a:latin typeface="Calibri" pitchFamily="34" charset="0"/>
                <a:ea typeface="Calibri" pitchFamily="34" charset="-122"/>
                <a:cs typeface="Calibri" pitchFamily="34" charset="-120"/>
              </a:rPr>
              <a:t>Polling + affichage interactif + intro personnalisée + export PDF.</a:t>
            </a:r>
            <a:endParaRPr lang="en-US" sz="1000" dirty="0"/>
          </a:p>
        </p:txBody>
      </p:sp>
      <p:sp>
        <p:nvSpPr>
          <p:cNvPr id="31" name="Shape 29"/>
          <p:cNvSpPr/>
          <p:nvPr/>
        </p:nvSpPr>
        <p:spPr>
          <a:xfrm>
            <a:off x="640080" y="4343400"/>
            <a:ext cx="10972800" cy="2011680"/>
          </a:xfrm>
          <a:prstGeom prst="rect">
            <a:avLst/>
          </a:prstGeom>
          <a:solidFill>
            <a:srgbClr val="0B1C30"/>
          </a:solidFill>
          <a:ln w="12700">
            <a:solidFill>
              <a:srgbClr val="0B1C30"/>
            </a:solidFill>
            <a:prstDash val="solid"/>
          </a:ln>
        </p:spPr>
      </p:sp>
      <p:sp>
        <p:nvSpPr>
          <p:cNvPr id="32" name="Text 30"/>
          <p:cNvSpPr/>
          <p:nvPr/>
        </p:nvSpPr>
        <p:spPr>
          <a:xfrm>
            <a:off x="868680" y="4480560"/>
            <a:ext cx="1051560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RÈGLES DE GÉNÉRATION</a:t>
            </a:r>
            <a:endParaRPr lang="en-US" sz="1300" dirty="0"/>
          </a:p>
        </p:txBody>
      </p:sp>
      <p:sp>
        <p:nvSpPr>
          <p:cNvPr id="33" name="Text 31"/>
          <p:cNvSpPr/>
          <p:nvPr/>
        </p:nvSpPr>
        <p:spPr>
          <a:xfrm>
            <a:off x="868680" y="4937760"/>
            <a:ext cx="3474720" cy="274320"/>
          </a:xfrm>
          <a:prstGeom prst="rect">
            <a:avLst/>
          </a:prstGeom>
          <a:noFill/>
          <a:ln/>
        </p:spPr>
        <p:txBody>
          <a:bodyPr wrap="square" rtlCol="0" anchor="ctr"/>
          <a:lstStyle/>
          <a:p>
            <a:pPr indent="0" marL="0">
              <a:buNone/>
            </a:pPr>
            <a:r>
              <a:rPr lang="en-US" sz="1100" b="1" dirty="0">
                <a:solidFill>
                  <a:srgbClr val="FF4500"/>
                </a:solidFill>
                <a:latin typeface="Calibri" pitchFamily="34" charset="0"/>
                <a:ea typeface="Calibri" pitchFamily="34" charset="-122"/>
                <a:cs typeface="Calibri" pitchFamily="34" charset="-120"/>
              </a:rPr>
              <a:t>Plan plafonné 16 semaines</a:t>
            </a:r>
            <a:endParaRPr lang="en-US" sz="1100" dirty="0"/>
          </a:p>
        </p:txBody>
      </p:sp>
      <p:sp>
        <p:nvSpPr>
          <p:cNvPr id="34" name="Text 32"/>
          <p:cNvSpPr/>
          <p:nvPr/>
        </p:nvSpPr>
        <p:spPr>
          <a:xfrm>
            <a:off x="868680" y="5193792"/>
            <a:ext cx="3474720" cy="365760"/>
          </a:xfrm>
          <a:prstGeom prst="rect">
            <a:avLst/>
          </a:prstGeom>
          <a:noFill/>
          <a:ln/>
        </p:spPr>
        <p:txBody>
          <a:bodyPr wrap="square" rtlCol="0" anchor="ctr"/>
          <a:lstStyle/>
          <a:p>
            <a:pPr indent="0" marL="0">
              <a:buNone/>
            </a:pPr>
            <a:r>
              <a:rPr lang="en-US" sz="900" dirty="0">
                <a:solidFill>
                  <a:srgbClr val="CBD5E1"/>
                </a:solidFill>
                <a:latin typeface="Calibri" pitchFamily="34" charset="0"/>
                <a:ea typeface="Calibri" pitchFamily="34" charset="-122"/>
                <a:cs typeface="Calibri" pitchFamily="34" charset="-120"/>
              </a:rPr>
              <a:t>Au-delà, phase de base proposée. &lt; 4 sem. → affûtage.</a:t>
            </a:r>
            <a:endParaRPr lang="en-US" sz="900" dirty="0"/>
          </a:p>
        </p:txBody>
      </p:sp>
      <p:sp>
        <p:nvSpPr>
          <p:cNvPr id="35" name="Text 33"/>
          <p:cNvSpPr/>
          <p:nvPr/>
        </p:nvSpPr>
        <p:spPr>
          <a:xfrm>
            <a:off x="4526280" y="4937760"/>
            <a:ext cx="3474720" cy="274320"/>
          </a:xfrm>
          <a:prstGeom prst="rect">
            <a:avLst/>
          </a:prstGeom>
          <a:noFill/>
          <a:ln/>
        </p:spPr>
        <p:txBody>
          <a:bodyPr wrap="square" rtlCol="0" anchor="ctr"/>
          <a:lstStyle/>
          <a:p>
            <a:pPr indent="0" marL="0">
              <a:buNone/>
            </a:pPr>
            <a:r>
              <a:rPr lang="en-US" sz="1100" b="1" dirty="0">
                <a:solidFill>
                  <a:srgbClr val="FF4500"/>
                </a:solidFill>
                <a:latin typeface="Calibri" pitchFamily="34" charset="0"/>
                <a:ea typeface="Calibri" pitchFamily="34" charset="-122"/>
                <a:cs typeface="Calibri" pitchFamily="34" charset="-120"/>
              </a:rPr>
              <a:t>Progression 10% max/sem</a:t>
            </a:r>
            <a:endParaRPr lang="en-US" sz="1100" dirty="0"/>
          </a:p>
        </p:txBody>
      </p:sp>
      <p:sp>
        <p:nvSpPr>
          <p:cNvPr id="36" name="Text 34"/>
          <p:cNvSpPr/>
          <p:nvPr/>
        </p:nvSpPr>
        <p:spPr>
          <a:xfrm>
            <a:off x="4526280" y="5193792"/>
            <a:ext cx="3474720" cy="365760"/>
          </a:xfrm>
          <a:prstGeom prst="rect">
            <a:avLst/>
          </a:prstGeom>
          <a:noFill/>
          <a:ln/>
        </p:spPr>
        <p:txBody>
          <a:bodyPr wrap="square" rtlCol="0" anchor="ctr"/>
          <a:lstStyle/>
          <a:p>
            <a:pPr indent="0" marL="0">
              <a:buNone/>
            </a:pPr>
            <a:r>
              <a:rPr lang="en-US" sz="900" dirty="0">
                <a:solidFill>
                  <a:srgbClr val="CBD5E1"/>
                </a:solidFill>
                <a:latin typeface="Calibri" pitchFamily="34" charset="0"/>
                <a:ea typeface="Calibri" pitchFamily="34" charset="-122"/>
                <a:cs typeface="Calibri" pitchFamily="34" charset="-120"/>
              </a:rPr>
              <a:t>Semaine décharge toutes les 3-4 semaines.</a:t>
            </a:r>
            <a:endParaRPr lang="en-US" sz="900" dirty="0"/>
          </a:p>
        </p:txBody>
      </p:sp>
      <p:sp>
        <p:nvSpPr>
          <p:cNvPr id="37" name="Text 35"/>
          <p:cNvSpPr/>
          <p:nvPr/>
        </p:nvSpPr>
        <p:spPr>
          <a:xfrm>
            <a:off x="8183880" y="4937760"/>
            <a:ext cx="3474720" cy="274320"/>
          </a:xfrm>
          <a:prstGeom prst="rect">
            <a:avLst/>
          </a:prstGeom>
          <a:noFill/>
          <a:ln/>
        </p:spPr>
        <p:txBody>
          <a:bodyPr wrap="square" rtlCol="0" anchor="ctr"/>
          <a:lstStyle/>
          <a:p>
            <a:pPr indent="0" marL="0">
              <a:buNone/>
            </a:pPr>
            <a:r>
              <a:rPr lang="en-US" sz="1100" b="1" dirty="0">
                <a:solidFill>
                  <a:srgbClr val="FF4500"/>
                </a:solidFill>
                <a:latin typeface="Calibri" pitchFamily="34" charset="0"/>
                <a:ea typeface="Calibri" pitchFamily="34" charset="-122"/>
                <a:cs typeface="Calibri" pitchFamily="34" charset="-120"/>
              </a:rPr>
              <a:t>Ratio 80/20 polarisé</a:t>
            </a:r>
            <a:endParaRPr lang="en-US" sz="1100" dirty="0"/>
          </a:p>
        </p:txBody>
      </p:sp>
      <p:sp>
        <p:nvSpPr>
          <p:cNvPr id="38" name="Text 36"/>
          <p:cNvSpPr/>
          <p:nvPr/>
        </p:nvSpPr>
        <p:spPr>
          <a:xfrm>
            <a:off x="8183880" y="5193792"/>
            <a:ext cx="3474720" cy="365760"/>
          </a:xfrm>
          <a:prstGeom prst="rect">
            <a:avLst/>
          </a:prstGeom>
          <a:noFill/>
          <a:ln/>
        </p:spPr>
        <p:txBody>
          <a:bodyPr wrap="square" rtlCol="0" anchor="ctr"/>
          <a:lstStyle/>
          <a:p>
            <a:pPr indent="0" marL="0">
              <a:buNone/>
            </a:pPr>
            <a:r>
              <a:rPr lang="en-US" sz="900" dirty="0">
                <a:solidFill>
                  <a:srgbClr val="CBD5E1"/>
                </a:solidFill>
                <a:latin typeface="Calibri" pitchFamily="34" charset="0"/>
                <a:ea typeface="Calibri" pitchFamily="34" charset="-122"/>
                <a:cs typeface="Calibri" pitchFamily="34" charset="-120"/>
              </a:rPr>
              <a:t>80% EF, 20% intensité. Jamais 2 séances dures consécutives.</a:t>
            </a:r>
            <a:endParaRPr lang="en-US" sz="900" dirty="0"/>
          </a:p>
        </p:txBody>
      </p:sp>
      <p:sp>
        <p:nvSpPr>
          <p:cNvPr id="39" name="Text 37"/>
          <p:cNvSpPr/>
          <p:nvPr/>
        </p:nvSpPr>
        <p:spPr>
          <a:xfrm>
            <a:off x="868680" y="5623560"/>
            <a:ext cx="3474720" cy="274320"/>
          </a:xfrm>
          <a:prstGeom prst="rect">
            <a:avLst/>
          </a:prstGeom>
          <a:noFill/>
          <a:ln/>
        </p:spPr>
        <p:txBody>
          <a:bodyPr wrap="square" rtlCol="0" anchor="ctr"/>
          <a:lstStyle/>
          <a:p>
            <a:pPr indent="0" marL="0">
              <a:buNone/>
            </a:pPr>
            <a:r>
              <a:rPr lang="en-US" sz="1100" b="1" dirty="0">
                <a:solidFill>
                  <a:srgbClr val="FF4500"/>
                </a:solidFill>
                <a:latin typeface="Calibri" pitchFamily="34" charset="0"/>
                <a:ea typeface="Calibri" pitchFamily="34" charset="-122"/>
                <a:cs typeface="Calibri" pitchFamily="34" charset="-120"/>
              </a:rPr>
              <a:t>Renforcement obligatoire</a:t>
            </a:r>
            <a:endParaRPr lang="en-US" sz="1100" dirty="0"/>
          </a:p>
        </p:txBody>
      </p:sp>
      <p:sp>
        <p:nvSpPr>
          <p:cNvPr id="40" name="Text 38"/>
          <p:cNvSpPr/>
          <p:nvPr/>
        </p:nvSpPr>
        <p:spPr>
          <a:xfrm>
            <a:off x="868680" y="5879592"/>
            <a:ext cx="3474720" cy="365760"/>
          </a:xfrm>
          <a:prstGeom prst="rect">
            <a:avLst/>
          </a:prstGeom>
          <a:noFill/>
          <a:ln/>
        </p:spPr>
        <p:txBody>
          <a:bodyPr wrap="square" rtlCol="0" anchor="ctr"/>
          <a:lstStyle/>
          <a:p>
            <a:pPr indent="0" marL="0">
              <a:buNone/>
            </a:pPr>
            <a:r>
              <a:rPr lang="en-US" sz="900" dirty="0">
                <a:solidFill>
                  <a:srgbClr val="CBD5E1"/>
                </a:solidFill>
                <a:latin typeface="Calibri" pitchFamily="34" charset="0"/>
                <a:ea typeface="Calibri" pitchFamily="34" charset="-122"/>
                <a:cs typeface="Calibri" pitchFamily="34" charset="-120"/>
              </a:rPr>
              <a:t>2 séances/sem fondation+développement, 1 en spécifique, 0 en affûtage.</a:t>
            </a:r>
            <a:endParaRPr lang="en-US" sz="900" dirty="0"/>
          </a:p>
        </p:txBody>
      </p:sp>
      <p:sp>
        <p:nvSpPr>
          <p:cNvPr id="41" name="Text 39"/>
          <p:cNvSpPr/>
          <p:nvPr/>
        </p:nvSpPr>
        <p:spPr>
          <a:xfrm>
            <a:off x="4526280" y="5623560"/>
            <a:ext cx="3474720" cy="274320"/>
          </a:xfrm>
          <a:prstGeom prst="rect">
            <a:avLst/>
          </a:prstGeom>
          <a:noFill/>
          <a:ln/>
        </p:spPr>
        <p:txBody>
          <a:bodyPr wrap="square" rtlCol="0" anchor="ctr"/>
          <a:lstStyle/>
          <a:p>
            <a:pPr indent="0" marL="0">
              <a:buNone/>
            </a:pPr>
            <a:r>
              <a:rPr lang="en-US" sz="1100" b="1" dirty="0">
                <a:solidFill>
                  <a:srgbClr val="FF4500"/>
                </a:solidFill>
                <a:latin typeface="Calibri" pitchFamily="34" charset="0"/>
                <a:ea typeface="Calibri" pitchFamily="34" charset="-122"/>
                <a:cs typeface="Calibri" pitchFamily="34" charset="-120"/>
              </a:rPr>
              <a:t>Terrain &amp; weekends chocs</a:t>
            </a:r>
            <a:endParaRPr lang="en-US" sz="1100" dirty="0"/>
          </a:p>
        </p:txBody>
      </p:sp>
      <p:sp>
        <p:nvSpPr>
          <p:cNvPr id="42" name="Text 40"/>
          <p:cNvSpPr/>
          <p:nvPr/>
        </p:nvSpPr>
        <p:spPr>
          <a:xfrm>
            <a:off x="4526280" y="5879592"/>
            <a:ext cx="3474720" cy="365760"/>
          </a:xfrm>
          <a:prstGeom prst="rect">
            <a:avLst/>
          </a:prstGeom>
          <a:noFill/>
          <a:ln/>
        </p:spPr>
        <p:txBody>
          <a:bodyPr wrap="square" rtlCol="0" anchor="ctr"/>
          <a:lstStyle/>
          <a:p>
            <a:pPr indent="0" marL="0">
              <a:buNone/>
            </a:pPr>
            <a:r>
              <a:rPr lang="en-US" sz="900" dirty="0">
                <a:solidFill>
                  <a:srgbClr val="CBD5E1"/>
                </a:solidFill>
                <a:latin typeface="Calibri" pitchFamily="34" charset="0"/>
                <a:ea typeface="Calibri" pitchFamily="34" charset="-122"/>
                <a:cs typeface="Calibri" pitchFamily="34" charset="-120"/>
              </a:rPr>
              <a:t>Plan adapté montagne/vallonné/plat + capacité back-to-back.</a:t>
            </a:r>
            <a:endParaRPr lang="en-US" sz="900" dirty="0"/>
          </a:p>
        </p:txBody>
      </p:sp>
      <p:sp>
        <p:nvSpPr>
          <p:cNvPr id="43" name="Text 41"/>
          <p:cNvSpPr/>
          <p:nvPr/>
        </p:nvSpPr>
        <p:spPr>
          <a:xfrm>
            <a:off x="8183880" y="5623560"/>
            <a:ext cx="3474720" cy="274320"/>
          </a:xfrm>
          <a:prstGeom prst="rect">
            <a:avLst/>
          </a:prstGeom>
          <a:noFill/>
          <a:ln/>
        </p:spPr>
        <p:txBody>
          <a:bodyPr wrap="square" rtlCol="0" anchor="ctr"/>
          <a:lstStyle/>
          <a:p>
            <a:pPr indent="0" marL="0">
              <a:buNone/>
            </a:pPr>
            <a:r>
              <a:rPr lang="en-US" sz="1100" b="1" dirty="0">
                <a:solidFill>
                  <a:srgbClr val="FF4500"/>
                </a:solidFill>
                <a:latin typeface="Calibri" pitchFamily="34" charset="0"/>
                <a:ea typeface="Calibri" pitchFamily="34" charset="-122"/>
                <a:cs typeface="Calibri" pitchFamily="34" charset="-120"/>
              </a:rPr>
              <a:t>Intro personnalisée</a:t>
            </a:r>
            <a:endParaRPr lang="en-US" sz="1100" dirty="0"/>
          </a:p>
        </p:txBody>
      </p:sp>
      <p:sp>
        <p:nvSpPr>
          <p:cNvPr id="44" name="Text 42"/>
          <p:cNvSpPr/>
          <p:nvPr/>
        </p:nvSpPr>
        <p:spPr>
          <a:xfrm>
            <a:off x="8183880" y="5879592"/>
            <a:ext cx="3474720" cy="365760"/>
          </a:xfrm>
          <a:prstGeom prst="rect">
            <a:avLst/>
          </a:prstGeom>
          <a:noFill/>
          <a:ln/>
        </p:spPr>
        <p:txBody>
          <a:bodyPr wrap="square" rtlCol="0" anchor="ctr"/>
          <a:lstStyle/>
          <a:p>
            <a:pPr indent="0" marL="0">
              <a:buNone/>
            </a:pPr>
            <a:r>
              <a:rPr lang="en-US" sz="900" dirty="0">
                <a:solidFill>
                  <a:srgbClr val="CBD5E1"/>
                </a:solidFill>
                <a:latin typeface="Calibri" pitchFamily="34" charset="0"/>
                <a:ea typeface="Calibri" pitchFamily="34" charset="-122"/>
                <a:cs typeface="Calibri" pitchFamily="34" charset="-120"/>
              </a:rPr>
              <a:t>Bloc navy/orange avec prénom, course cible, profil, méthodologie retenue.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07</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NEWSLETTER &amp; ENGAGEMENT</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200" b="1" dirty="0">
                <a:solidFill>
                  <a:srgbClr val="0B1C30"/>
                </a:solidFill>
                <a:latin typeface="Georgia" pitchFamily="34" charset="0"/>
                <a:ea typeface="Georgia" pitchFamily="34" charset="-122"/>
                <a:cs typeface="Georgia" pitchFamily="34" charset="-120"/>
              </a:rPr>
              <a:t>Collecte RGPD + double opt-in + email marketing</a:t>
            </a:r>
            <a:endParaRPr lang="en-US" sz="2200" dirty="0"/>
          </a:p>
        </p:txBody>
      </p:sp>
      <p:sp>
        <p:nvSpPr>
          <p:cNvPr id="6" name="Shape 4"/>
          <p:cNvSpPr/>
          <p:nvPr/>
        </p:nvSpPr>
        <p:spPr>
          <a:xfrm>
            <a:off x="640080" y="1965960"/>
            <a:ext cx="5394960" cy="4389120"/>
          </a:xfrm>
          <a:prstGeom prst="rect">
            <a:avLst/>
          </a:prstGeom>
          <a:solidFill>
            <a:srgbClr val="F8F9FF"/>
          </a:solidFill>
          <a:ln w="12700">
            <a:solidFill>
              <a:srgbClr val="E5EEFF"/>
            </a:solidFill>
            <a:prstDash val="solid"/>
          </a:ln>
        </p:spPr>
      </p:sp>
      <p:sp>
        <p:nvSpPr>
          <p:cNvPr id="7" name="Shape 5"/>
          <p:cNvSpPr/>
          <p:nvPr/>
        </p:nvSpPr>
        <p:spPr>
          <a:xfrm>
            <a:off x="640080" y="1965960"/>
            <a:ext cx="109728" cy="4389120"/>
          </a:xfrm>
          <a:prstGeom prst="rect">
            <a:avLst/>
          </a:prstGeom>
          <a:solidFill>
            <a:srgbClr val="FF4500"/>
          </a:solidFill>
          <a:ln w="12700">
            <a:solidFill>
              <a:srgbClr val="FF4500"/>
            </a:solidFill>
            <a:prstDash val="solid"/>
          </a:ln>
        </p:spPr>
      </p:sp>
      <p:sp>
        <p:nvSpPr>
          <p:cNvPr id="8" name="Text 6"/>
          <p:cNvSpPr/>
          <p:nvPr/>
        </p:nvSpPr>
        <p:spPr>
          <a:xfrm>
            <a:off x="914400" y="2176272"/>
            <a:ext cx="484632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POPIN INTRUSIVE-LÉGÈRE</a:t>
            </a:r>
            <a:endParaRPr lang="en-US" sz="1300" dirty="0"/>
          </a:p>
        </p:txBody>
      </p:sp>
      <p:sp>
        <p:nvSpPr>
          <p:cNvPr id="9" name="Text 7"/>
          <p:cNvSpPr/>
          <p:nvPr/>
        </p:nvSpPr>
        <p:spPr>
          <a:xfrm>
            <a:off x="914400" y="2651760"/>
            <a:ext cx="4846320" cy="3657600"/>
          </a:xfrm>
          <a:prstGeom prst="rect">
            <a:avLst/>
          </a:prstGeom>
          <a:noFill/>
          <a:ln/>
        </p:spPr>
        <p:txBody>
          <a:bodyPr wrap="square" rtlCol="0" anchor="ctr"/>
          <a:lstStyle/>
          <a:p>
            <a:pPr marL="342900" indent="-342900">
              <a:spcAft>
                <a:spcPts val="600"/>
              </a:spcAft>
              <a:buSzPct val="100000"/>
              <a:buChar char="•"/>
            </a:pPr>
            <a:r>
              <a:rPr lang="en-US" sz="1200" dirty="0">
                <a:solidFill>
                  <a:srgbClr val="0B1C30"/>
                </a:solidFill>
                <a:latin typeface="Calibri" pitchFamily="34" charset="0"/>
                <a:ea typeface="Calibri" pitchFamily="34" charset="-122"/>
                <a:cs typeface="Calibri" pitchFamily="34" charset="-120"/>
              </a:rPr>
              <a:t>Affichée après 60 secondes passées sur le site</a:t>
            </a:r>
            <a:endParaRPr lang="en-US" sz="1200" dirty="0"/>
          </a:p>
          <a:p>
            <a:pPr marL="342900" indent="-342900">
              <a:spcAft>
                <a:spcPts val="600"/>
              </a:spcAft>
              <a:buSzPct val="100000"/>
              <a:buChar char="•"/>
            </a:pPr>
            <a:r>
              <a:rPr lang="en-US" sz="1200" dirty="0">
                <a:solidFill>
                  <a:srgbClr val="0B1C30"/>
                </a:solidFill>
                <a:latin typeface="Calibri" pitchFamily="34" charset="0"/>
                <a:ea typeface="Calibri" pitchFamily="34" charset="-122"/>
                <a:cs typeface="Calibri" pitchFamily="34" charset="-120"/>
              </a:rPr>
              <a:t>Bottom sheet plein écran sur mobile (slide-up), modale 440px sur desktop</a:t>
            </a:r>
            <a:endParaRPr lang="en-US" sz="1200" dirty="0"/>
          </a:p>
          <a:p>
            <a:pPr marL="342900" indent="-342900">
              <a:spcAft>
                <a:spcPts val="600"/>
              </a:spcAft>
              <a:buSzPct val="100000"/>
              <a:buChar char="•"/>
            </a:pPr>
            <a:r>
              <a:rPr lang="en-US" sz="1200" dirty="0">
                <a:solidFill>
                  <a:srgbClr val="0B1C30"/>
                </a:solidFill>
                <a:latin typeface="Calibri" pitchFamily="34" charset="0"/>
                <a:ea typeface="Calibri" pitchFamily="34" charset="-122"/>
                <a:cs typeface="Calibri" pitchFamily="34" charset="-120"/>
              </a:rPr>
              <a:t>Hero visuel avec photo alpin + overlay navy</a:t>
            </a:r>
            <a:endParaRPr lang="en-US" sz="1200" dirty="0"/>
          </a:p>
          <a:p>
            <a:pPr marL="342900" indent="-342900">
              <a:spcAft>
                <a:spcPts val="600"/>
              </a:spcAft>
              <a:buSzPct val="100000"/>
              <a:buChar char="•"/>
            </a:pPr>
            <a:r>
              <a:rPr lang="en-US" sz="1200" dirty="0">
                <a:solidFill>
                  <a:srgbClr val="0B1C30"/>
                </a:solidFill>
                <a:latin typeface="Calibri" pitchFamily="34" charset="0"/>
                <a:ea typeface="Calibri" pitchFamily="34" charset="-122"/>
                <a:cs typeface="Calibri" pitchFamily="34" charset="-120"/>
              </a:rPr>
              <a:t>Fermable par X, Escape, clic backdrop, bouton dédié</a:t>
            </a:r>
            <a:endParaRPr lang="en-US" sz="1200" dirty="0"/>
          </a:p>
          <a:p>
            <a:pPr marL="342900" indent="-342900">
              <a:spcAft>
                <a:spcPts val="600"/>
              </a:spcAft>
              <a:buSzPct val="100000"/>
              <a:buChar char="•"/>
            </a:pPr>
            <a:r>
              <a:rPr lang="en-US" sz="1200" dirty="0">
                <a:solidFill>
                  <a:srgbClr val="0B1C30"/>
                </a:solidFill>
                <a:latin typeface="Calibri" pitchFamily="34" charset="0"/>
                <a:ea typeface="Calibri" pitchFamily="34" charset="-122"/>
                <a:cs typeface="Calibri" pitchFamily="34" charset="-120"/>
              </a:rPr>
              <a:t>Mémoire localStorage 30 jours (pas de réaffichage)</a:t>
            </a:r>
            <a:endParaRPr lang="en-US" sz="1200" dirty="0"/>
          </a:p>
          <a:p>
            <a:pPr marL="342900" indent="-342900">
              <a:spcAft>
                <a:spcPts val="600"/>
              </a:spcAft>
              <a:buSzPct val="100000"/>
              <a:buChar char="•"/>
            </a:pPr>
            <a:r>
              <a:rPr lang="en-US" sz="1200" dirty="0">
                <a:solidFill>
                  <a:srgbClr val="0B1C30"/>
                </a:solidFill>
                <a:latin typeface="Calibri" pitchFamily="34" charset="0"/>
                <a:ea typeface="Calibri" pitchFamily="34" charset="-122"/>
                <a:cs typeface="Calibri" pitchFamily="34" charset="-120"/>
              </a:rPr>
              <a:t>Accessibilité : role=dialog, focus trap, ARIA</a:t>
            </a:r>
            <a:endParaRPr lang="en-US" sz="1200" dirty="0"/>
          </a:p>
        </p:txBody>
      </p:sp>
      <p:sp>
        <p:nvSpPr>
          <p:cNvPr id="10" name="Shape 8"/>
          <p:cNvSpPr/>
          <p:nvPr/>
        </p:nvSpPr>
        <p:spPr>
          <a:xfrm>
            <a:off x="6309360" y="1965960"/>
            <a:ext cx="5303520" cy="4389120"/>
          </a:xfrm>
          <a:prstGeom prst="rect">
            <a:avLst/>
          </a:prstGeom>
          <a:solidFill>
            <a:srgbClr val="0B1C30"/>
          </a:solidFill>
          <a:ln w="12700">
            <a:solidFill>
              <a:srgbClr val="0B1C30"/>
            </a:solidFill>
            <a:prstDash val="solid"/>
          </a:ln>
        </p:spPr>
      </p:sp>
      <p:sp>
        <p:nvSpPr>
          <p:cNvPr id="11" name="Shape 9"/>
          <p:cNvSpPr/>
          <p:nvPr/>
        </p:nvSpPr>
        <p:spPr>
          <a:xfrm>
            <a:off x="6309360" y="1965960"/>
            <a:ext cx="5303520" cy="73152"/>
          </a:xfrm>
          <a:prstGeom prst="rect">
            <a:avLst/>
          </a:prstGeom>
          <a:solidFill>
            <a:srgbClr val="FF4500"/>
          </a:solidFill>
          <a:ln w="12700">
            <a:solidFill>
              <a:srgbClr val="FF4500"/>
            </a:solidFill>
            <a:prstDash val="solid"/>
          </a:ln>
        </p:spPr>
      </p:sp>
      <p:sp>
        <p:nvSpPr>
          <p:cNvPr id="12" name="Text 10"/>
          <p:cNvSpPr/>
          <p:nvPr/>
        </p:nvSpPr>
        <p:spPr>
          <a:xfrm>
            <a:off x="6583680" y="2176272"/>
            <a:ext cx="4754880" cy="365760"/>
          </a:xfrm>
          <a:prstGeom prst="rect">
            <a:avLst/>
          </a:prstGeom>
          <a:noFill/>
          <a:ln/>
        </p:spPr>
        <p:txBody>
          <a:bodyPr wrap="square" rtlCol="0" anchor="ctr"/>
          <a:lstStyle/>
          <a:p>
            <a:pPr indent="0" marL="0">
              <a:buNone/>
            </a:pPr>
            <a:r>
              <a:rPr lang="en-US" sz="1300" b="1" spc="300" kern="0" dirty="0">
                <a:solidFill>
                  <a:srgbClr val="FF4500"/>
                </a:solidFill>
                <a:latin typeface="Georgia" pitchFamily="34" charset="0"/>
                <a:ea typeface="Georgia" pitchFamily="34" charset="-122"/>
                <a:cs typeface="Georgia" pitchFamily="34" charset="-120"/>
              </a:rPr>
              <a:t>BACKEND &amp; RGPD</a:t>
            </a:r>
            <a:endParaRPr lang="en-US" sz="1300" dirty="0"/>
          </a:p>
        </p:txBody>
      </p:sp>
      <p:sp>
        <p:nvSpPr>
          <p:cNvPr id="13" name="Text 11"/>
          <p:cNvSpPr/>
          <p:nvPr/>
        </p:nvSpPr>
        <p:spPr>
          <a:xfrm>
            <a:off x="6583680" y="2651760"/>
            <a:ext cx="4754880" cy="3657600"/>
          </a:xfrm>
          <a:prstGeom prst="rect">
            <a:avLst/>
          </a:prstGeom>
          <a:noFill/>
          <a:ln/>
        </p:spPr>
        <p:txBody>
          <a:bodyPr wrap="square"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API /api/newsletter/subscribe (validation + upsert)</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Stockage Supabase table users (consent_newsletter)</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Mail de confirmation design éditorial (3 articles phares)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Notification interne à chaque nouvelle inscription</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Consentement explicite + non coché par défaut</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Désinscription en 1 clic documentée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Zéro revente, hébergement données en UE (Supabase Frankfurt)</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Lien charte éditoriale accessible depuis la popin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08</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AUTOMATISATIONS &amp; MONITORING</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Jobs programmés et observabilité</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72800" cy="914400"/>
        </p:xfrm>
        <a:graphic>
          <a:graphicData uri="http://schemas.openxmlformats.org/drawingml/2006/table">
            <a:tbl>
              <a:tblPr/>
              <a:tblGrid>
                <a:gridCol w="2103120"/>
                <a:gridCol w="1828800"/>
                <a:gridCol w="2926080"/>
                <a:gridCol w="4114800"/>
              </a:tblGrid>
              <a:tr h="41148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Automatisation</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Planning</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Effet concret</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r>
              <a:tr h="411480">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Veille RSS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GitHub Actions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3×/jour (6h / 11h30 / 18h Paris)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Jusqu'à 3 articles / jour</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411480">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Veille Tavily</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GitHub Actions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4×/jour (8h15 / 12h / 16h / 20h Paris)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Jusqu'à 2 articles / jour (10 en hot event)</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Vercel Cron relais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Vercel Cron</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3×/jour (filet de sécurité GitHub)</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Déclenche workflow_dispatch si cron GHA sauté</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411480">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Rapport SEO hebdo</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Vercel Cron</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Lundi 8h15 Paris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PageSpeed 4 URLs × mobile+desktop + audit Claude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Stale articles check</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Vercel Cron</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Lundi 7h45 Paris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Email des articles &gt; 120 jours à rafraîchir</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411480">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Bot push auto</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GitHub Actions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Sortie de chaque veille</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Commit &amp; push atomique, régénération data.ts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Email alerts</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Resend + GMail SMTP</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Success / Echec de chaque run</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00" dirty="0">
                          <a:solidFill>
                            <a:srgbClr val="0B1C30"/>
                          </a:solidFill>
                          <a:latin typeface="Calibri" pitchFamily="34" charset="0"/>
                          <a:ea typeface="Calibri" pitchFamily="34" charset="-122"/>
                          <a:cs typeface="Calibri" pitchFamily="34" charset="-120"/>
                        </a:rPr>
                        <a:t>Ciblés yannkarroum@gmail.com</a:t>
                      </a:r>
                      <a:endParaRPr lang="en-US" sz="10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bl>
          </a:graphicData>
        </a:graphic>
      </p:graphicFrame>
      <p:sp>
        <p:nvSpPr>
          <p:cNvPr id="7" name="Text 4"/>
          <p:cNvSpPr/>
          <p:nvPr/>
        </p:nvSpPr>
        <p:spPr>
          <a:xfrm>
            <a:off x="640080" y="6080760"/>
            <a:ext cx="10972800" cy="365760"/>
          </a:xfrm>
          <a:prstGeom prst="rect">
            <a:avLst/>
          </a:prstGeom>
          <a:noFill/>
          <a:ln/>
        </p:spPr>
        <p:txBody>
          <a:bodyPr wrap="square" rtlCol="0" anchor="ctr"/>
          <a:lstStyle/>
          <a:p>
            <a:pPr algn="ctr" indent="0" marL="0">
              <a:buNone/>
            </a:pPr>
            <a:r>
              <a:rPr lang="en-US" sz="1100" i="1" dirty="0">
                <a:solidFill>
                  <a:srgbClr val="5A6A80"/>
                </a:solidFill>
                <a:latin typeface="Calibri" pitchFamily="34" charset="0"/>
                <a:ea typeface="Calibri" pitchFamily="34" charset="-122"/>
                <a:cs typeface="Calibri" pitchFamily="34" charset="-120"/>
              </a:rPr>
              <a:t>Filet de sécurité : si un run échoue, un email d'alerte est envoyé. Les runs suivants reprennent naturellement.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09</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SERVICES TIERS &amp; COÛTS MENSUELS</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Coûts d'exploitation fixes + variables</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72800" cy="914400"/>
        </p:xfrm>
        <a:graphic>
          <a:graphicData uri="http://schemas.openxmlformats.org/drawingml/2006/table">
            <a:tbl>
              <a:tblPr/>
              <a:tblGrid>
                <a:gridCol w="2286000"/>
                <a:gridCol w="4114800"/>
                <a:gridCol w="2743200"/>
                <a:gridCol w="182880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Service</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Usage</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Tarification</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Coût /mois</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Vercel</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Hosting + cron + edge functions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Pro 20 $/mois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~18 €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Anthropic Claude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Rédaction articles + plans + audits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Pay-as-you-go</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~40-80 €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Tavily Search</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Synthèse multi-sources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Gratuit (1000 req/mois)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fal.ai (FLUX)</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Génération images hero</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Pay-per-image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~10-20 €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YouTube Data API v3</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Recherche vidéos pertinentes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Gratuit (10k req/jour)</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Google PageSpeed API</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Rapport SEO hebdo</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Gratuit</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Supabase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Base users + plans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Tier gratuit</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Resend</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Emails transactionnels + newsletter</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3000 envois/mois gratuits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OVH (domaine)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altitude-trail.fr</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~10 €/an</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100" dirty="0">
                          <a:solidFill>
                            <a:srgbClr val="0B1C30"/>
                          </a:solidFill>
                          <a:latin typeface="Calibri" pitchFamily="34" charset="0"/>
                          <a:ea typeface="Calibri" pitchFamily="34" charset="-122"/>
                          <a:cs typeface="Calibri" pitchFamily="34" charset="-120"/>
                        </a:rPr>
                        <a:t>~1 €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TOTAL mensuel estimé</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4500"/>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4500"/>
                    </a:solidFill>
                  </a:tcPr>
                </a:tc>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4500"/>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70-120 €</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4500"/>
                    </a:solidFill>
                  </a:tcPr>
                </a:tc>
              </a:tr>
            </a:tbl>
          </a:graphicData>
        </a:graphic>
      </p:graphicFrame>
      <p:sp>
        <p:nvSpPr>
          <p:cNvPr id="7" name="Text 4"/>
          <p:cNvSpPr/>
          <p:nvPr/>
        </p:nvSpPr>
        <p:spPr>
          <a:xfrm>
            <a:off x="640080" y="6309360"/>
            <a:ext cx="10972800" cy="274320"/>
          </a:xfrm>
          <a:prstGeom prst="rect">
            <a:avLst/>
          </a:prstGeom>
          <a:noFill/>
          <a:ln/>
        </p:spPr>
        <p:txBody>
          <a:bodyPr wrap="square" rtlCol="0" anchor="ctr"/>
          <a:lstStyle/>
          <a:p>
            <a:pPr algn="ctr" indent="0" marL="0">
              <a:buNone/>
            </a:pPr>
            <a:r>
              <a:rPr lang="en-US" sz="1100" i="1" dirty="0">
                <a:solidFill>
                  <a:srgbClr val="5A6A80"/>
                </a:solidFill>
                <a:latin typeface="Calibri" pitchFamily="34" charset="0"/>
                <a:ea typeface="Calibri" pitchFamily="34" charset="-122"/>
                <a:cs typeface="Calibri" pitchFamily="34" charset="-120"/>
              </a:rPr>
              <a:t>Coût variable principal : Anthropic. Fluctue avec le nombre d'articles générés et les plans d'entraînement demandés.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10</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GOUVERNANCE, RGPD &amp; TRANSPARENCE IA</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Cadre légal et éditorial</a:t>
            </a:r>
            <a:endParaRPr lang="en-US" sz="2400" dirty="0"/>
          </a:p>
        </p:txBody>
      </p:sp>
      <p:sp>
        <p:nvSpPr>
          <p:cNvPr id="6" name="Shape 4"/>
          <p:cNvSpPr/>
          <p:nvPr/>
        </p:nvSpPr>
        <p:spPr>
          <a:xfrm>
            <a:off x="640080" y="2057400"/>
            <a:ext cx="3566160" cy="4297680"/>
          </a:xfrm>
          <a:prstGeom prst="rect">
            <a:avLst/>
          </a:prstGeom>
          <a:solidFill>
            <a:srgbClr val="0B1C30"/>
          </a:solidFill>
          <a:ln w="12700">
            <a:solidFill>
              <a:srgbClr val="0B1C30"/>
            </a:solidFill>
            <a:prstDash val="solid"/>
          </a:ln>
        </p:spPr>
      </p:sp>
      <p:sp>
        <p:nvSpPr>
          <p:cNvPr id="7" name="Shape 5"/>
          <p:cNvSpPr/>
          <p:nvPr/>
        </p:nvSpPr>
        <p:spPr>
          <a:xfrm>
            <a:off x="640080" y="2057400"/>
            <a:ext cx="3566160" cy="73152"/>
          </a:xfrm>
          <a:prstGeom prst="rect">
            <a:avLst/>
          </a:prstGeom>
          <a:solidFill>
            <a:srgbClr val="FF4500"/>
          </a:solidFill>
          <a:ln w="12700">
            <a:solidFill>
              <a:srgbClr val="FF4500"/>
            </a:solidFill>
            <a:prstDash val="solid"/>
          </a:ln>
        </p:spPr>
      </p:sp>
      <p:pic>
        <p:nvPicPr>
          <p:cNvPr id="8" name="Image 0" descr="preencoded.png">    </p:cNvPr>
          <p:cNvPicPr>
            <a:picLocks noChangeAspect="1"/>
          </p:cNvPicPr>
          <p:nvPr/>
        </p:nvPicPr>
        <p:blipFill>
          <a:blip r:embed="rId1"/>
          <a:stretch>
            <a:fillRect/>
          </a:stretch>
        </p:blipFill>
        <p:spPr>
          <a:xfrm>
            <a:off x="914400" y="2331720"/>
            <a:ext cx="457200" cy="457200"/>
          </a:xfrm>
          <a:prstGeom prst="rect">
            <a:avLst/>
          </a:prstGeom>
        </p:spPr>
      </p:pic>
      <p:sp>
        <p:nvSpPr>
          <p:cNvPr id="9" name="Text 6"/>
          <p:cNvSpPr/>
          <p:nvPr/>
        </p:nvSpPr>
        <p:spPr>
          <a:xfrm>
            <a:off x="914400" y="2926080"/>
            <a:ext cx="3017520" cy="41148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RGPD</a:t>
            </a:r>
            <a:endParaRPr lang="en-US" sz="2000" dirty="0"/>
          </a:p>
        </p:txBody>
      </p:sp>
      <p:sp>
        <p:nvSpPr>
          <p:cNvPr id="10" name="Text 7"/>
          <p:cNvSpPr/>
          <p:nvPr/>
        </p:nvSpPr>
        <p:spPr>
          <a:xfrm>
            <a:off x="914400" y="3474720"/>
            <a:ext cx="3017520" cy="2743200"/>
          </a:xfrm>
          <a:prstGeom prst="rect">
            <a:avLst/>
          </a:prstGeom>
          <a:noFill/>
          <a:ln/>
        </p:spPr>
        <p:txBody>
          <a:bodyPr wrap="square" rtlCol="0" anchor="ctr"/>
          <a:lstStyle/>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Consentement explicite pour newsletter</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Case à cocher non-pré-cochée réglementaire</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Droit à l'oubli documenté (charte)</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Données dans l'UE (Supabase Frankfurt)</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Zéro revente, zéro tracking tiers agressif</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Cookie consent banner — dette identifiée</a:t>
            </a:r>
            <a:endParaRPr lang="en-US" sz="1050" dirty="0"/>
          </a:p>
        </p:txBody>
      </p:sp>
      <p:sp>
        <p:nvSpPr>
          <p:cNvPr id="11" name="Shape 8"/>
          <p:cNvSpPr/>
          <p:nvPr/>
        </p:nvSpPr>
        <p:spPr>
          <a:xfrm>
            <a:off x="4389120" y="2057400"/>
            <a:ext cx="3566160" cy="4297680"/>
          </a:xfrm>
          <a:prstGeom prst="rect">
            <a:avLst/>
          </a:prstGeom>
          <a:solidFill>
            <a:srgbClr val="0B1C30"/>
          </a:solidFill>
          <a:ln w="12700">
            <a:solidFill>
              <a:srgbClr val="0B1C30"/>
            </a:solidFill>
            <a:prstDash val="solid"/>
          </a:ln>
        </p:spPr>
      </p:sp>
      <p:sp>
        <p:nvSpPr>
          <p:cNvPr id="12" name="Shape 9"/>
          <p:cNvSpPr/>
          <p:nvPr/>
        </p:nvSpPr>
        <p:spPr>
          <a:xfrm>
            <a:off x="4389120" y="2057400"/>
            <a:ext cx="3566160" cy="73152"/>
          </a:xfrm>
          <a:prstGeom prst="rect">
            <a:avLst/>
          </a:prstGeom>
          <a:solidFill>
            <a:srgbClr val="FF4500"/>
          </a:solidFill>
          <a:ln w="12700">
            <a:solidFill>
              <a:srgbClr val="FF4500"/>
            </a:solidFill>
            <a:prstDash val="solid"/>
          </a:ln>
        </p:spPr>
      </p:sp>
      <p:pic>
        <p:nvPicPr>
          <p:cNvPr id="13" name="Image 1" descr="preencoded.png">    </p:cNvPr>
          <p:cNvPicPr>
            <a:picLocks noChangeAspect="1"/>
          </p:cNvPicPr>
          <p:nvPr/>
        </p:nvPicPr>
        <p:blipFill>
          <a:blip r:embed="rId2"/>
          <a:stretch>
            <a:fillRect/>
          </a:stretch>
        </p:blipFill>
        <p:spPr>
          <a:xfrm>
            <a:off x="4663440" y="2331720"/>
            <a:ext cx="457200" cy="457200"/>
          </a:xfrm>
          <a:prstGeom prst="rect">
            <a:avLst/>
          </a:prstGeom>
        </p:spPr>
      </p:pic>
      <p:sp>
        <p:nvSpPr>
          <p:cNvPr id="14" name="Text 10"/>
          <p:cNvSpPr/>
          <p:nvPr/>
        </p:nvSpPr>
        <p:spPr>
          <a:xfrm>
            <a:off x="4663440" y="2926080"/>
            <a:ext cx="3017520" cy="41148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Transparence IA</a:t>
            </a:r>
            <a:endParaRPr lang="en-US" sz="2000" dirty="0"/>
          </a:p>
        </p:txBody>
      </p:sp>
      <p:sp>
        <p:nvSpPr>
          <p:cNvPr id="15" name="Text 11"/>
          <p:cNvSpPr/>
          <p:nvPr/>
        </p:nvSpPr>
        <p:spPr>
          <a:xfrm>
            <a:off x="4663440" y="3474720"/>
            <a:ext cx="3017520" cy="2743200"/>
          </a:xfrm>
          <a:prstGeom prst="rect">
            <a:avLst/>
          </a:prstGeom>
          <a:noFill/>
          <a:ln/>
        </p:spPr>
        <p:txBody>
          <a:bodyPr wrap="square" rtlCol="0" anchor="ctr"/>
          <a:lstStyle/>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Charte éditoriale publique sur usage IA</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Tous les auteurs identifiés (4 personas)</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Sources citées dans le corps des articles</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Politique de correction publiée</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Zéro fabrication de citation ou chiffre</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Audit Claude publié avec le rapport hebdo</a:t>
            </a:r>
            <a:endParaRPr lang="en-US" sz="1050" dirty="0"/>
          </a:p>
        </p:txBody>
      </p:sp>
      <p:sp>
        <p:nvSpPr>
          <p:cNvPr id="16" name="Shape 12"/>
          <p:cNvSpPr/>
          <p:nvPr/>
        </p:nvSpPr>
        <p:spPr>
          <a:xfrm>
            <a:off x="8138160" y="2057400"/>
            <a:ext cx="3566160" cy="4297680"/>
          </a:xfrm>
          <a:prstGeom prst="rect">
            <a:avLst/>
          </a:prstGeom>
          <a:solidFill>
            <a:srgbClr val="0B1C30"/>
          </a:solidFill>
          <a:ln w="12700">
            <a:solidFill>
              <a:srgbClr val="0B1C30"/>
            </a:solidFill>
            <a:prstDash val="solid"/>
          </a:ln>
        </p:spPr>
      </p:sp>
      <p:sp>
        <p:nvSpPr>
          <p:cNvPr id="17" name="Shape 13"/>
          <p:cNvSpPr/>
          <p:nvPr/>
        </p:nvSpPr>
        <p:spPr>
          <a:xfrm>
            <a:off x="8138160" y="2057400"/>
            <a:ext cx="3566160" cy="73152"/>
          </a:xfrm>
          <a:prstGeom prst="rect">
            <a:avLst/>
          </a:prstGeom>
          <a:solidFill>
            <a:srgbClr val="FF4500"/>
          </a:solidFill>
          <a:ln w="12700">
            <a:solidFill>
              <a:srgbClr val="FF4500"/>
            </a:solidFill>
            <a:prstDash val="solid"/>
          </a:ln>
        </p:spPr>
      </p:sp>
      <p:pic>
        <p:nvPicPr>
          <p:cNvPr id="18" name="Image 2" descr="preencoded.png">    </p:cNvPr>
          <p:cNvPicPr>
            <a:picLocks noChangeAspect="1"/>
          </p:cNvPicPr>
          <p:nvPr/>
        </p:nvPicPr>
        <p:blipFill>
          <a:blip r:embed="rId3"/>
          <a:stretch>
            <a:fillRect/>
          </a:stretch>
        </p:blipFill>
        <p:spPr>
          <a:xfrm>
            <a:off x="8412480" y="2331720"/>
            <a:ext cx="457200" cy="457200"/>
          </a:xfrm>
          <a:prstGeom prst="rect">
            <a:avLst/>
          </a:prstGeom>
        </p:spPr>
      </p:pic>
      <p:sp>
        <p:nvSpPr>
          <p:cNvPr id="19" name="Text 14"/>
          <p:cNvSpPr/>
          <p:nvPr/>
        </p:nvSpPr>
        <p:spPr>
          <a:xfrm>
            <a:off x="8412480" y="2926080"/>
            <a:ext cx="3017520" cy="41148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Qualité &amp; sécurité</a:t>
            </a:r>
            <a:endParaRPr lang="en-US" sz="2000" dirty="0"/>
          </a:p>
        </p:txBody>
      </p:sp>
      <p:sp>
        <p:nvSpPr>
          <p:cNvPr id="20" name="Text 15"/>
          <p:cNvSpPr/>
          <p:nvPr/>
        </p:nvSpPr>
        <p:spPr>
          <a:xfrm>
            <a:off x="8412480" y="3474720"/>
            <a:ext cx="3017520" cy="2743200"/>
          </a:xfrm>
          <a:prstGeom prst="rect">
            <a:avLst/>
          </a:prstGeom>
          <a:noFill/>
          <a:ln/>
        </p:spPr>
        <p:txBody>
          <a:bodyPr wrap="square" rtlCol="0" anchor="ctr"/>
          <a:lstStyle/>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Whitelist 30 domaines d'autorité pour liens</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Validation HTTP avant publication</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Zéro copier-coller, reformulation systématique</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Cap éditorial 5/jour (anti content farm)</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Badge LIVE limité à 48h automatiquement</a:t>
            </a:r>
            <a:endParaRPr lang="en-US" sz="1050" dirty="0"/>
          </a:p>
          <a:p>
            <a:pPr marL="342900" indent="-342900">
              <a:spcAft>
                <a:spcPts val="400"/>
              </a:spcAft>
              <a:buSzPct val="100000"/>
              <a:buChar char="•"/>
            </a:pPr>
            <a:r>
              <a:rPr lang="en-US" sz="1050" dirty="0">
                <a:solidFill>
                  <a:srgbClr val="E2E8F0"/>
                </a:solidFill>
                <a:latin typeface="Calibri" pitchFamily="34" charset="0"/>
                <a:ea typeface="Calibri" pitchFamily="34" charset="-122"/>
                <a:cs typeface="Calibri" pitchFamily="34" charset="-120"/>
              </a:rPr>
              <a:t>Renforcement obligatoire basé sur BJSM 2018</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11</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MÉTRIQUES CLÉS</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Indicateurs opérationnels à date</a:t>
            </a:r>
            <a:endParaRPr lang="en-US" sz="2400" dirty="0"/>
          </a:p>
        </p:txBody>
      </p:sp>
      <p:sp>
        <p:nvSpPr>
          <p:cNvPr id="6" name="Shape 4"/>
          <p:cNvSpPr/>
          <p:nvPr/>
        </p:nvSpPr>
        <p:spPr>
          <a:xfrm>
            <a:off x="640080" y="2057400"/>
            <a:ext cx="2651760" cy="1828800"/>
          </a:xfrm>
          <a:prstGeom prst="rect">
            <a:avLst/>
          </a:prstGeom>
          <a:solidFill>
            <a:srgbClr val="0B1C30"/>
          </a:solidFill>
          <a:ln w="12700">
            <a:solidFill>
              <a:srgbClr val="0B1C30"/>
            </a:solidFill>
            <a:prstDash val="solid"/>
          </a:ln>
        </p:spPr>
      </p:sp>
      <p:sp>
        <p:nvSpPr>
          <p:cNvPr id="7" name="Shape 5"/>
          <p:cNvSpPr/>
          <p:nvPr/>
        </p:nvSpPr>
        <p:spPr>
          <a:xfrm>
            <a:off x="640080" y="3813048"/>
            <a:ext cx="2651760" cy="73152"/>
          </a:xfrm>
          <a:prstGeom prst="rect">
            <a:avLst/>
          </a:prstGeom>
          <a:solidFill>
            <a:srgbClr val="FF4500"/>
          </a:solidFill>
          <a:ln w="12700">
            <a:solidFill>
              <a:srgbClr val="FF4500"/>
            </a:solidFill>
            <a:prstDash val="solid"/>
          </a:ln>
        </p:spPr>
      </p:sp>
      <p:sp>
        <p:nvSpPr>
          <p:cNvPr id="8" name="Text 6"/>
          <p:cNvSpPr/>
          <p:nvPr/>
        </p:nvSpPr>
        <p:spPr>
          <a:xfrm>
            <a:off x="640080" y="2286000"/>
            <a:ext cx="2651760" cy="822960"/>
          </a:xfrm>
          <a:prstGeom prst="rect">
            <a:avLst/>
          </a:prstGeom>
          <a:noFill/>
          <a:ln/>
        </p:spPr>
        <p:txBody>
          <a:bodyPr wrap="square" rtlCol="0" anchor="ctr"/>
          <a:lstStyle/>
          <a:p>
            <a:pPr algn="ctr" indent="0" marL="0">
              <a:buNone/>
            </a:pPr>
            <a:r>
              <a:rPr lang="en-US" sz="5400" b="1" dirty="0">
                <a:solidFill>
                  <a:srgbClr val="FF4500"/>
                </a:solidFill>
                <a:latin typeface="Georgia" pitchFamily="34" charset="0"/>
                <a:ea typeface="Georgia" pitchFamily="34" charset="-122"/>
                <a:cs typeface="Georgia" pitchFamily="34" charset="-120"/>
              </a:rPr>
              <a:t>75+</a:t>
            </a:r>
            <a:endParaRPr lang="en-US" sz="5400" dirty="0"/>
          </a:p>
        </p:txBody>
      </p:sp>
      <p:sp>
        <p:nvSpPr>
          <p:cNvPr id="9" name="Text 7"/>
          <p:cNvSpPr/>
          <p:nvPr/>
        </p:nvSpPr>
        <p:spPr>
          <a:xfrm>
            <a:off x="640080" y="3108960"/>
            <a:ext cx="2651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articles publiés</a:t>
            </a:r>
            <a:endParaRPr lang="en-US" sz="1400" dirty="0"/>
          </a:p>
        </p:txBody>
      </p:sp>
      <p:sp>
        <p:nvSpPr>
          <p:cNvPr id="10" name="Text 8"/>
          <p:cNvSpPr/>
          <p:nvPr/>
        </p:nvSpPr>
        <p:spPr>
          <a:xfrm>
            <a:off x="640080" y="3474720"/>
            <a:ext cx="2651760" cy="320040"/>
          </a:xfrm>
          <a:prstGeom prst="rect">
            <a:avLst/>
          </a:prstGeom>
          <a:noFill/>
          <a:ln/>
        </p:spPr>
        <p:txBody>
          <a:bodyPr wrap="square" rtlCol="0" anchor="ctr"/>
          <a:lstStyle/>
          <a:p>
            <a:pPr algn="ctr" indent="0" marL="0">
              <a:buNone/>
            </a:pPr>
            <a:r>
              <a:rPr lang="en-US" sz="1000" i="1" dirty="0">
                <a:solidFill>
                  <a:srgbClr val="CBD5E1"/>
                </a:solidFill>
                <a:latin typeface="Calibri" pitchFamily="34" charset="0"/>
                <a:ea typeface="Calibri" pitchFamily="34" charset="-122"/>
                <a:cs typeface="Calibri" pitchFamily="34" charset="-120"/>
              </a:rPr>
              <a:t>+5/jour en régime normal</a:t>
            </a:r>
            <a:endParaRPr lang="en-US" sz="1000" dirty="0"/>
          </a:p>
        </p:txBody>
      </p:sp>
      <p:sp>
        <p:nvSpPr>
          <p:cNvPr id="11" name="Shape 9"/>
          <p:cNvSpPr/>
          <p:nvPr/>
        </p:nvSpPr>
        <p:spPr>
          <a:xfrm>
            <a:off x="3456432" y="2057400"/>
            <a:ext cx="2651760" cy="1828800"/>
          </a:xfrm>
          <a:prstGeom prst="rect">
            <a:avLst/>
          </a:prstGeom>
          <a:solidFill>
            <a:srgbClr val="0B1C30"/>
          </a:solidFill>
          <a:ln w="12700">
            <a:solidFill>
              <a:srgbClr val="0B1C30"/>
            </a:solidFill>
            <a:prstDash val="solid"/>
          </a:ln>
        </p:spPr>
      </p:sp>
      <p:sp>
        <p:nvSpPr>
          <p:cNvPr id="12" name="Shape 10"/>
          <p:cNvSpPr/>
          <p:nvPr/>
        </p:nvSpPr>
        <p:spPr>
          <a:xfrm>
            <a:off x="3456432" y="3813048"/>
            <a:ext cx="2651760" cy="73152"/>
          </a:xfrm>
          <a:prstGeom prst="rect">
            <a:avLst/>
          </a:prstGeom>
          <a:solidFill>
            <a:srgbClr val="FF4500"/>
          </a:solidFill>
          <a:ln w="12700">
            <a:solidFill>
              <a:srgbClr val="FF4500"/>
            </a:solidFill>
            <a:prstDash val="solid"/>
          </a:ln>
        </p:spPr>
      </p:sp>
      <p:sp>
        <p:nvSpPr>
          <p:cNvPr id="13" name="Text 11"/>
          <p:cNvSpPr/>
          <p:nvPr/>
        </p:nvSpPr>
        <p:spPr>
          <a:xfrm>
            <a:off x="3456432" y="2286000"/>
            <a:ext cx="2651760" cy="822960"/>
          </a:xfrm>
          <a:prstGeom prst="rect">
            <a:avLst/>
          </a:prstGeom>
          <a:noFill/>
          <a:ln/>
        </p:spPr>
        <p:txBody>
          <a:bodyPr wrap="square" rtlCol="0" anchor="ctr"/>
          <a:lstStyle/>
          <a:p>
            <a:pPr algn="ctr" indent="0" marL="0">
              <a:buNone/>
            </a:pPr>
            <a:r>
              <a:rPr lang="en-US" sz="5400" b="1" dirty="0">
                <a:solidFill>
                  <a:srgbClr val="FF4500"/>
                </a:solidFill>
                <a:latin typeface="Georgia" pitchFamily="34" charset="0"/>
                <a:ea typeface="Georgia" pitchFamily="34" charset="-122"/>
                <a:cs typeface="Georgia" pitchFamily="34" charset="-120"/>
              </a:rPr>
              <a:t>21</a:t>
            </a:r>
            <a:endParaRPr lang="en-US" sz="5400" dirty="0"/>
          </a:p>
        </p:txBody>
      </p:sp>
      <p:sp>
        <p:nvSpPr>
          <p:cNvPr id="14" name="Text 12"/>
          <p:cNvSpPr/>
          <p:nvPr/>
        </p:nvSpPr>
        <p:spPr>
          <a:xfrm>
            <a:off x="3456432" y="3108960"/>
            <a:ext cx="2651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sources RSS monitorées</a:t>
            </a:r>
            <a:endParaRPr lang="en-US" sz="1400" dirty="0"/>
          </a:p>
        </p:txBody>
      </p:sp>
      <p:sp>
        <p:nvSpPr>
          <p:cNvPr id="15" name="Text 13"/>
          <p:cNvSpPr/>
          <p:nvPr/>
        </p:nvSpPr>
        <p:spPr>
          <a:xfrm>
            <a:off x="3456432" y="3474720"/>
            <a:ext cx="2651760" cy="320040"/>
          </a:xfrm>
          <a:prstGeom prst="rect">
            <a:avLst/>
          </a:prstGeom>
          <a:noFill/>
          <a:ln/>
        </p:spPr>
        <p:txBody>
          <a:bodyPr wrap="square" rtlCol="0" anchor="ctr"/>
          <a:lstStyle/>
          <a:p>
            <a:pPr algn="ctr" indent="0" marL="0">
              <a:buNone/>
            </a:pPr>
            <a:r>
              <a:rPr lang="en-US" sz="1000" i="1" dirty="0">
                <a:solidFill>
                  <a:srgbClr val="CBD5E1"/>
                </a:solidFill>
                <a:latin typeface="Calibri" pitchFamily="34" charset="0"/>
                <a:ea typeface="Calibri" pitchFamily="34" charset="-122"/>
                <a:cs typeface="Calibri" pitchFamily="34" charset="-120"/>
              </a:rPr>
              <a:t>FR / EN / IT / ES</a:t>
            </a:r>
            <a:endParaRPr lang="en-US" sz="1000" dirty="0"/>
          </a:p>
        </p:txBody>
      </p:sp>
      <p:sp>
        <p:nvSpPr>
          <p:cNvPr id="16" name="Shape 14"/>
          <p:cNvSpPr/>
          <p:nvPr/>
        </p:nvSpPr>
        <p:spPr>
          <a:xfrm>
            <a:off x="6272784" y="2057400"/>
            <a:ext cx="2651760" cy="1828800"/>
          </a:xfrm>
          <a:prstGeom prst="rect">
            <a:avLst/>
          </a:prstGeom>
          <a:solidFill>
            <a:srgbClr val="0B1C30"/>
          </a:solidFill>
          <a:ln w="12700">
            <a:solidFill>
              <a:srgbClr val="0B1C30"/>
            </a:solidFill>
            <a:prstDash val="solid"/>
          </a:ln>
        </p:spPr>
      </p:sp>
      <p:sp>
        <p:nvSpPr>
          <p:cNvPr id="17" name="Shape 15"/>
          <p:cNvSpPr/>
          <p:nvPr/>
        </p:nvSpPr>
        <p:spPr>
          <a:xfrm>
            <a:off x="6272784" y="3813048"/>
            <a:ext cx="2651760" cy="73152"/>
          </a:xfrm>
          <a:prstGeom prst="rect">
            <a:avLst/>
          </a:prstGeom>
          <a:solidFill>
            <a:srgbClr val="FF4500"/>
          </a:solidFill>
          <a:ln w="12700">
            <a:solidFill>
              <a:srgbClr val="FF4500"/>
            </a:solidFill>
            <a:prstDash val="solid"/>
          </a:ln>
        </p:spPr>
      </p:sp>
      <p:sp>
        <p:nvSpPr>
          <p:cNvPr id="18" name="Text 16"/>
          <p:cNvSpPr/>
          <p:nvPr/>
        </p:nvSpPr>
        <p:spPr>
          <a:xfrm>
            <a:off x="6272784" y="2286000"/>
            <a:ext cx="2651760" cy="822960"/>
          </a:xfrm>
          <a:prstGeom prst="rect">
            <a:avLst/>
          </a:prstGeom>
          <a:noFill/>
          <a:ln/>
        </p:spPr>
        <p:txBody>
          <a:bodyPr wrap="square" rtlCol="0" anchor="ctr"/>
          <a:lstStyle/>
          <a:p>
            <a:pPr algn="ctr" indent="0" marL="0">
              <a:buNone/>
            </a:pPr>
            <a:r>
              <a:rPr lang="en-US" sz="5400" b="1" dirty="0">
                <a:solidFill>
                  <a:srgbClr val="FF4500"/>
                </a:solidFill>
                <a:latin typeface="Georgia" pitchFamily="34" charset="0"/>
                <a:ea typeface="Georgia" pitchFamily="34" charset="-122"/>
                <a:cs typeface="Georgia" pitchFamily="34" charset="-120"/>
              </a:rPr>
              <a:t>15</a:t>
            </a:r>
            <a:endParaRPr lang="en-US" sz="5400" dirty="0"/>
          </a:p>
        </p:txBody>
      </p:sp>
      <p:sp>
        <p:nvSpPr>
          <p:cNvPr id="19" name="Text 17"/>
          <p:cNvSpPr/>
          <p:nvPr/>
        </p:nvSpPr>
        <p:spPr>
          <a:xfrm>
            <a:off x="6272784" y="3108960"/>
            <a:ext cx="2651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événements hot-tracked</a:t>
            </a:r>
            <a:endParaRPr lang="en-US" sz="1400" dirty="0"/>
          </a:p>
        </p:txBody>
      </p:sp>
      <p:sp>
        <p:nvSpPr>
          <p:cNvPr id="20" name="Text 18"/>
          <p:cNvSpPr/>
          <p:nvPr/>
        </p:nvSpPr>
        <p:spPr>
          <a:xfrm>
            <a:off x="6272784" y="3474720"/>
            <a:ext cx="2651760" cy="320040"/>
          </a:xfrm>
          <a:prstGeom prst="rect">
            <a:avLst/>
          </a:prstGeom>
          <a:noFill/>
          <a:ln/>
        </p:spPr>
        <p:txBody>
          <a:bodyPr wrap="square" rtlCol="0" anchor="ctr"/>
          <a:lstStyle/>
          <a:p>
            <a:pPr algn="ctr" indent="0" marL="0">
              <a:buNone/>
            </a:pPr>
            <a:r>
              <a:rPr lang="en-US" sz="1000" i="1" dirty="0">
                <a:solidFill>
                  <a:srgbClr val="CBD5E1"/>
                </a:solidFill>
                <a:latin typeface="Calibri" pitchFamily="34" charset="0"/>
                <a:ea typeface="Calibri" pitchFamily="34" charset="-122"/>
                <a:cs typeface="Calibri" pitchFamily="34" charset="-120"/>
              </a:rPr>
              <a:t>Calendrier extensible</a:t>
            </a:r>
            <a:endParaRPr lang="en-US" sz="1000" dirty="0"/>
          </a:p>
        </p:txBody>
      </p:sp>
      <p:sp>
        <p:nvSpPr>
          <p:cNvPr id="21" name="Shape 19"/>
          <p:cNvSpPr/>
          <p:nvPr/>
        </p:nvSpPr>
        <p:spPr>
          <a:xfrm>
            <a:off x="9089136" y="2057400"/>
            <a:ext cx="2651760" cy="1828800"/>
          </a:xfrm>
          <a:prstGeom prst="rect">
            <a:avLst/>
          </a:prstGeom>
          <a:solidFill>
            <a:srgbClr val="0B1C30"/>
          </a:solidFill>
          <a:ln w="12700">
            <a:solidFill>
              <a:srgbClr val="0B1C30"/>
            </a:solidFill>
            <a:prstDash val="solid"/>
          </a:ln>
        </p:spPr>
      </p:sp>
      <p:sp>
        <p:nvSpPr>
          <p:cNvPr id="22" name="Shape 20"/>
          <p:cNvSpPr/>
          <p:nvPr/>
        </p:nvSpPr>
        <p:spPr>
          <a:xfrm>
            <a:off x="9089136" y="3813048"/>
            <a:ext cx="2651760" cy="73152"/>
          </a:xfrm>
          <a:prstGeom prst="rect">
            <a:avLst/>
          </a:prstGeom>
          <a:solidFill>
            <a:srgbClr val="FF4500"/>
          </a:solidFill>
          <a:ln w="12700">
            <a:solidFill>
              <a:srgbClr val="FF4500"/>
            </a:solidFill>
            <a:prstDash val="solid"/>
          </a:ln>
        </p:spPr>
      </p:sp>
      <p:sp>
        <p:nvSpPr>
          <p:cNvPr id="23" name="Text 21"/>
          <p:cNvSpPr/>
          <p:nvPr/>
        </p:nvSpPr>
        <p:spPr>
          <a:xfrm>
            <a:off x="9089136" y="2286000"/>
            <a:ext cx="2651760" cy="822960"/>
          </a:xfrm>
          <a:prstGeom prst="rect">
            <a:avLst/>
          </a:prstGeom>
          <a:noFill/>
          <a:ln/>
        </p:spPr>
        <p:txBody>
          <a:bodyPr wrap="square" rtlCol="0" anchor="ctr"/>
          <a:lstStyle/>
          <a:p>
            <a:pPr algn="ctr" indent="0" marL="0">
              <a:buNone/>
            </a:pPr>
            <a:r>
              <a:rPr lang="en-US" sz="5400" b="1" dirty="0">
                <a:solidFill>
                  <a:srgbClr val="FF4500"/>
                </a:solidFill>
                <a:latin typeface="Georgia" pitchFamily="34" charset="0"/>
                <a:ea typeface="Georgia" pitchFamily="34" charset="-122"/>
                <a:cs typeface="Georgia" pitchFamily="34" charset="-120"/>
              </a:rPr>
              <a:t>12</a:t>
            </a:r>
            <a:endParaRPr lang="en-US" sz="5400" dirty="0"/>
          </a:p>
        </p:txBody>
      </p:sp>
      <p:sp>
        <p:nvSpPr>
          <p:cNvPr id="24" name="Text 22"/>
          <p:cNvSpPr/>
          <p:nvPr/>
        </p:nvSpPr>
        <p:spPr>
          <a:xfrm>
            <a:off x="9089136" y="3108960"/>
            <a:ext cx="2651760"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types JSON-LD émis</a:t>
            </a:r>
            <a:endParaRPr lang="en-US" sz="1400" dirty="0"/>
          </a:p>
        </p:txBody>
      </p:sp>
      <p:sp>
        <p:nvSpPr>
          <p:cNvPr id="25" name="Text 23"/>
          <p:cNvSpPr/>
          <p:nvPr/>
        </p:nvSpPr>
        <p:spPr>
          <a:xfrm>
            <a:off x="9089136" y="3474720"/>
            <a:ext cx="2651760" cy="320040"/>
          </a:xfrm>
          <a:prstGeom prst="rect">
            <a:avLst/>
          </a:prstGeom>
          <a:noFill/>
          <a:ln/>
        </p:spPr>
        <p:txBody>
          <a:bodyPr wrap="square" rtlCol="0" anchor="ctr"/>
          <a:lstStyle/>
          <a:p>
            <a:pPr algn="ctr" indent="0" marL="0">
              <a:buNone/>
            </a:pPr>
            <a:r>
              <a:rPr lang="en-US" sz="1000" i="1" dirty="0">
                <a:solidFill>
                  <a:srgbClr val="CBD5E1"/>
                </a:solidFill>
                <a:latin typeface="Calibri" pitchFamily="34" charset="0"/>
                <a:ea typeface="Calibri" pitchFamily="34" charset="-122"/>
                <a:cs typeface="Calibri" pitchFamily="34" charset="-120"/>
              </a:rPr>
              <a:t>4/4 rich results validés</a:t>
            </a:r>
            <a:endParaRPr lang="en-US" sz="1000" dirty="0"/>
          </a:p>
        </p:txBody>
      </p:sp>
      <p:sp>
        <p:nvSpPr>
          <p:cNvPr id="26" name="Text 24"/>
          <p:cNvSpPr/>
          <p:nvPr/>
        </p:nvSpPr>
        <p:spPr>
          <a:xfrm>
            <a:off x="640080" y="4206240"/>
            <a:ext cx="10972800" cy="365760"/>
          </a:xfrm>
          <a:prstGeom prst="rect">
            <a:avLst/>
          </a:prstGeom>
          <a:noFill/>
          <a:ln/>
        </p:spPr>
        <p:txBody>
          <a:bodyPr wrap="square" rtlCol="0" anchor="ctr"/>
          <a:lstStyle/>
          <a:p>
            <a:pPr indent="0" marL="0">
              <a:buNone/>
            </a:pPr>
            <a:r>
              <a:rPr lang="en-US" sz="1600" b="1" spc="300" kern="0" dirty="0">
                <a:solidFill>
                  <a:srgbClr val="FF4500"/>
                </a:solidFill>
                <a:latin typeface="Georgia" pitchFamily="34" charset="0"/>
                <a:ea typeface="Georgia" pitchFamily="34" charset="-122"/>
                <a:cs typeface="Georgia" pitchFamily="34" charset="-120"/>
              </a:rPr>
              <a:t>Objectifs sur 3-6 mois</a:t>
            </a:r>
            <a:endParaRPr lang="en-US" sz="1600" dirty="0"/>
          </a:p>
        </p:txBody>
      </p:sp>
      <p:sp>
        <p:nvSpPr>
          <p:cNvPr id="27" name="Shape 25"/>
          <p:cNvSpPr/>
          <p:nvPr/>
        </p:nvSpPr>
        <p:spPr>
          <a:xfrm>
            <a:off x="731520" y="4754880"/>
            <a:ext cx="182880" cy="182880"/>
          </a:xfrm>
          <a:prstGeom prst="ellipse">
            <a:avLst/>
          </a:prstGeom>
          <a:solidFill>
            <a:srgbClr val="FF4500"/>
          </a:solidFill>
          <a:ln w="12700">
            <a:solidFill>
              <a:srgbClr val="FF4500"/>
            </a:solidFill>
            <a:prstDash val="solid"/>
          </a:ln>
        </p:spPr>
      </p:sp>
      <p:sp>
        <p:nvSpPr>
          <p:cNvPr id="28" name="Text 26"/>
          <p:cNvSpPr/>
          <p:nvPr/>
        </p:nvSpPr>
        <p:spPr>
          <a:xfrm>
            <a:off x="1005840" y="4709160"/>
            <a:ext cx="3200400" cy="32004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Position Google News</a:t>
            </a:r>
            <a:endParaRPr lang="en-US" sz="1200" dirty="0"/>
          </a:p>
        </p:txBody>
      </p:sp>
      <p:sp>
        <p:nvSpPr>
          <p:cNvPr id="29" name="Text 27"/>
          <p:cNvSpPr/>
          <p:nvPr/>
        </p:nvSpPr>
        <p:spPr>
          <a:xfrm>
            <a:off x="4297680" y="4709160"/>
            <a:ext cx="7315200" cy="320040"/>
          </a:xfrm>
          <a:prstGeom prst="rect">
            <a:avLst/>
          </a:prstGeom>
          <a:noFill/>
          <a:ln/>
        </p:spPr>
        <p:txBody>
          <a:bodyPr wrap="square" rtlCol="0" anchor="ctr"/>
          <a:lstStyle/>
          <a:p>
            <a:pPr indent="0" marL="0">
              <a:buNone/>
            </a:pPr>
            <a:r>
              <a:rPr lang="en-US" sz="1100" dirty="0">
                <a:solidFill>
                  <a:srgbClr val="5A6A80"/>
                </a:solidFill>
                <a:latin typeface="Calibri" pitchFamily="34" charset="0"/>
                <a:ea typeface="Calibri" pitchFamily="34" charset="-122"/>
                <a:cs typeface="Calibri" pitchFamily="34" charset="-120"/>
              </a:rPr>
              <a:t>Validation Publisher Center en cours. Intégration auto post-validation.</a:t>
            </a:r>
            <a:endParaRPr lang="en-US" sz="1100" dirty="0"/>
          </a:p>
        </p:txBody>
      </p:sp>
      <p:sp>
        <p:nvSpPr>
          <p:cNvPr id="30" name="Shape 28"/>
          <p:cNvSpPr/>
          <p:nvPr/>
        </p:nvSpPr>
        <p:spPr>
          <a:xfrm>
            <a:off x="731520" y="5212080"/>
            <a:ext cx="182880" cy="182880"/>
          </a:xfrm>
          <a:prstGeom prst="ellipse">
            <a:avLst/>
          </a:prstGeom>
          <a:solidFill>
            <a:srgbClr val="FF4500"/>
          </a:solidFill>
          <a:ln w="12700">
            <a:solidFill>
              <a:srgbClr val="FF4500"/>
            </a:solidFill>
            <a:prstDash val="solid"/>
          </a:ln>
        </p:spPr>
      </p:sp>
      <p:sp>
        <p:nvSpPr>
          <p:cNvPr id="31" name="Text 29"/>
          <p:cNvSpPr/>
          <p:nvPr/>
        </p:nvSpPr>
        <p:spPr>
          <a:xfrm>
            <a:off x="1005840" y="5166360"/>
            <a:ext cx="3200400" cy="32004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Core Web Vitals</a:t>
            </a:r>
            <a:endParaRPr lang="en-US" sz="1200" dirty="0"/>
          </a:p>
        </p:txBody>
      </p:sp>
      <p:sp>
        <p:nvSpPr>
          <p:cNvPr id="32" name="Text 30"/>
          <p:cNvSpPr/>
          <p:nvPr/>
        </p:nvSpPr>
        <p:spPr>
          <a:xfrm>
            <a:off x="4297680" y="5166360"/>
            <a:ext cx="7315200" cy="320040"/>
          </a:xfrm>
          <a:prstGeom prst="rect">
            <a:avLst/>
          </a:prstGeom>
          <a:noFill/>
          <a:ln/>
        </p:spPr>
        <p:txBody>
          <a:bodyPr wrap="square" rtlCol="0" anchor="ctr"/>
          <a:lstStyle/>
          <a:p>
            <a:pPr indent="0" marL="0">
              <a:buNone/>
            </a:pPr>
            <a:r>
              <a:rPr lang="en-US" sz="1100" dirty="0">
                <a:solidFill>
                  <a:srgbClr val="5A6A80"/>
                </a:solidFill>
                <a:latin typeface="Calibri" pitchFamily="34" charset="0"/>
                <a:ea typeface="Calibri" pitchFamily="34" charset="-122"/>
                <a:cs typeface="Calibri" pitchFamily="34" charset="-120"/>
              </a:rPr>
              <a:t>Objectif LCP &lt; 2.5s mobile, CLS &lt; 0.1, INP &lt; 200ms. Suivi hebdo par le cron PSI.</a:t>
            </a:r>
            <a:endParaRPr lang="en-US" sz="1100" dirty="0"/>
          </a:p>
        </p:txBody>
      </p:sp>
      <p:sp>
        <p:nvSpPr>
          <p:cNvPr id="33" name="Shape 31"/>
          <p:cNvSpPr/>
          <p:nvPr/>
        </p:nvSpPr>
        <p:spPr>
          <a:xfrm>
            <a:off x="731520" y="5669280"/>
            <a:ext cx="182880" cy="182880"/>
          </a:xfrm>
          <a:prstGeom prst="ellipse">
            <a:avLst/>
          </a:prstGeom>
          <a:solidFill>
            <a:srgbClr val="FF4500"/>
          </a:solidFill>
          <a:ln w="12700">
            <a:solidFill>
              <a:srgbClr val="FF4500"/>
            </a:solidFill>
            <a:prstDash val="solid"/>
          </a:ln>
        </p:spPr>
      </p:sp>
      <p:sp>
        <p:nvSpPr>
          <p:cNvPr id="34" name="Text 32"/>
          <p:cNvSpPr/>
          <p:nvPr/>
        </p:nvSpPr>
        <p:spPr>
          <a:xfrm>
            <a:off x="1005840" y="5623560"/>
            <a:ext cx="3200400" cy="32004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Trafic organique</a:t>
            </a:r>
            <a:endParaRPr lang="en-US" sz="1200" dirty="0"/>
          </a:p>
        </p:txBody>
      </p:sp>
      <p:sp>
        <p:nvSpPr>
          <p:cNvPr id="35" name="Text 33"/>
          <p:cNvSpPr/>
          <p:nvPr/>
        </p:nvSpPr>
        <p:spPr>
          <a:xfrm>
            <a:off x="4297680" y="5623560"/>
            <a:ext cx="7315200" cy="320040"/>
          </a:xfrm>
          <a:prstGeom prst="rect">
            <a:avLst/>
          </a:prstGeom>
          <a:noFill/>
          <a:ln/>
        </p:spPr>
        <p:txBody>
          <a:bodyPr wrap="square" rtlCol="0" anchor="ctr"/>
          <a:lstStyle/>
          <a:p>
            <a:pPr indent="0" marL="0">
              <a:buNone/>
            </a:pPr>
            <a:r>
              <a:rPr lang="en-US" sz="1100" dirty="0">
                <a:solidFill>
                  <a:srgbClr val="5A6A80"/>
                </a:solidFill>
                <a:latin typeface="Calibri" pitchFamily="34" charset="0"/>
                <a:ea typeface="Calibri" pitchFamily="34" charset="-122"/>
                <a:cs typeface="Calibri" pitchFamily="34" charset="-120"/>
              </a:rPr>
              <a:t>Objectif 5 000 visites/mois à 90 jours (vs estimé ~500/mois aujourd'hui).</a:t>
            </a:r>
            <a:endParaRPr lang="en-US" sz="1100" dirty="0"/>
          </a:p>
        </p:txBody>
      </p:sp>
      <p:sp>
        <p:nvSpPr>
          <p:cNvPr id="36" name="Shape 34"/>
          <p:cNvSpPr/>
          <p:nvPr/>
        </p:nvSpPr>
        <p:spPr>
          <a:xfrm>
            <a:off x="731520" y="6126480"/>
            <a:ext cx="182880" cy="182880"/>
          </a:xfrm>
          <a:prstGeom prst="ellipse">
            <a:avLst/>
          </a:prstGeom>
          <a:solidFill>
            <a:srgbClr val="FF4500"/>
          </a:solidFill>
          <a:ln w="12700">
            <a:solidFill>
              <a:srgbClr val="FF4500"/>
            </a:solidFill>
            <a:prstDash val="solid"/>
          </a:ln>
        </p:spPr>
      </p:sp>
      <p:sp>
        <p:nvSpPr>
          <p:cNvPr id="37" name="Text 35"/>
          <p:cNvSpPr/>
          <p:nvPr/>
        </p:nvSpPr>
        <p:spPr>
          <a:xfrm>
            <a:off x="1005840" y="6080760"/>
            <a:ext cx="3200400" cy="320040"/>
          </a:xfrm>
          <a:prstGeom prst="rect">
            <a:avLst/>
          </a:prstGeom>
          <a:noFill/>
          <a:ln/>
        </p:spPr>
        <p:txBody>
          <a:bodyPr wrap="square" rtlCol="0" anchor="ctr"/>
          <a:lstStyle/>
          <a:p>
            <a:pPr indent="0" marL="0">
              <a:buNone/>
            </a:pPr>
            <a:r>
              <a:rPr lang="en-US" sz="1200" b="1" dirty="0">
                <a:solidFill>
                  <a:srgbClr val="0B1C30"/>
                </a:solidFill>
                <a:latin typeface="Calibri" pitchFamily="34" charset="0"/>
                <a:ea typeface="Calibri" pitchFamily="34" charset="-122"/>
                <a:cs typeface="Calibri" pitchFamily="34" charset="-120"/>
              </a:rPr>
              <a:t>Inscriptions newsletter</a:t>
            </a:r>
            <a:endParaRPr lang="en-US" sz="1200" dirty="0"/>
          </a:p>
        </p:txBody>
      </p:sp>
      <p:sp>
        <p:nvSpPr>
          <p:cNvPr id="38" name="Text 36"/>
          <p:cNvSpPr/>
          <p:nvPr/>
        </p:nvSpPr>
        <p:spPr>
          <a:xfrm>
            <a:off x="4297680" y="6080760"/>
            <a:ext cx="7315200" cy="320040"/>
          </a:xfrm>
          <a:prstGeom prst="rect">
            <a:avLst/>
          </a:prstGeom>
          <a:noFill/>
          <a:ln/>
        </p:spPr>
        <p:txBody>
          <a:bodyPr wrap="square" rtlCol="0" anchor="ctr"/>
          <a:lstStyle/>
          <a:p>
            <a:pPr indent="0" marL="0">
              <a:buNone/>
            </a:pPr>
            <a:r>
              <a:rPr lang="en-US" sz="1100" dirty="0">
                <a:solidFill>
                  <a:srgbClr val="5A6A80"/>
                </a:solidFill>
                <a:latin typeface="Calibri" pitchFamily="34" charset="0"/>
                <a:ea typeface="Calibri" pitchFamily="34" charset="-122"/>
                <a:cs typeface="Calibri" pitchFamily="34" charset="-120"/>
              </a:rPr>
              <a:t>Objectif 500 inscrits à 90 jours avec la popin 60s + digest hebdo.</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12</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FEUILLE DE ROUTE</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400" b="1" dirty="0">
                <a:solidFill>
                  <a:srgbClr val="0B1C30"/>
                </a:solidFill>
                <a:latin typeface="Georgia" pitchFamily="34" charset="0"/>
                <a:ea typeface="Georgia" pitchFamily="34" charset="-122"/>
                <a:cs typeface="Georgia" pitchFamily="34" charset="-120"/>
              </a:rPr>
              <a:t>Prochaines évolutions priorisées</a:t>
            </a:r>
            <a:endParaRPr lang="en-US" sz="2400" dirty="0"/>
          </a:p>
        </p:txBody>
      </p:sp>
      <p:sp>
        <p:nvSpPr>
          <p:cNvPr id="6" name="Shape 4"/>
          <p:cNvSpPr/>
          <p:nvPr/>
        </p:nvSpPr>
        <p:spPr>
          <a:xfrm>
            <a:off x="640080" y="2057400"/>
            <a:ext cx="3566160" cy="4297680"/>
          </a:xfrm>
          <a:prstGeom prst="rect">
            <a:avLst/>
          </a:prstGeom>
          <a:solidFill>
            <a:srgbClr val="F8F9FF"/>
          </a:solidFill>
          <a:ln w="12700">
            <a:solidFill>
              <a:srgbClr val="E5EEFF"/>
            </a:solidFill>
            <a:prstDash val="solid"/>
          </a:ln>
        </p:spPr>
      </p:sp>
      <p:sp>
        <p:nvSpPr>
          <p:cNvPr id="7" name="Shape 5"/>
          <p:cNvSpPr/>
          <p:nvPr/>
        </p:nvSpPr>
        <p:spPr>
          <a:xfrm>
            <a:off x="640080" y="2057400"/>
            <a:ext cx="3566160" cy="457200"/>
          </a:xfrm>
          <a:prstGeom prst="rect">
            <a:avLst/>
          </a:prstGeom>
          <a:solidFill>
            <a:srgbClr val="FF4500"/>
          </a:solidFill>
          <a:ln w="12700">
            <a:solidFill>
              <a:srgbClr val="FF4500"/>
            </a:solidFill>
            <a:prstDash val="solid"/>
          </a:ln>
        </p:spPr>
      </p:sp>
      <p:sp>
        <p:nvSpPr>
          <p:cNvPr id="8" name="Text 6"/>
          <p:cNvSpPr/>
          <p:nvPr/>
        </p:nvSpPr>
        <p:spPr>
          <a:xfrm>
            <a:off x="640080" y="2130552"/>
            <a:ext cx="3566160" cy="320040"/>
          </a:xfrm>
          <a:prstGeom prst="rect">
            <a:avLst/>
          </a:prstGeom>
          <a:noFill/>
          <a:ln/>
        </p:spPr>
        <p:txBody>
          <a:bodyPr wrap="square" rtlCol="0" anchor="ctr"/>
          <a:lstStyle/>
          <a:p>
            <a:pPr algn="ctr" indent="0" marL="0">
              <a:buNone/>
            </a:pPr>
            <a:r>
              <a:rPr lang="en-US" sz="1300" b="1" spc="300" kern="0" dirty="0">
                <a:solidFill>
                  <a:srgbClr val="FFFFFF"/>
                </a:solidFill>
                <a:latin typeface="Georgia" pitchFamily="34" charset="0"/>
                <a:ea typeface="Georgia" pitchFamily="34" charset="-122"/>
                <a:cs typeface="Georgia" pitchFamily="34" charset="-120"/>
              </a:rPr>
              <a:t>COURT TERME (1 mois)</a:t>
            </a:r>
            <a:endParaRPr lang="en-US" sz="1300" dirty="0"/>
          </a:p>
        </p:txBody>
      </p:sp>
      <p:sp>
        <p:nvSpPr>
          <p:cNvPr id="9" name="Text 7"/>
          <p:cNvSpPr/>
          <p:nvPr/>
        </p:nvSpPr>
        <p:spPr>
          <a:xfrm>
            <a:off x="914400" y="2834640"/>
            <a:ext cx="3017520" cy="3383280"/>
          </a:xfrm>
          <a:prstGeom prst="rect">
            <a:avLst/>
          </a:prstGeom>
          <a:noFill/>
          <a:ln/>
        </p:spPr>
        <p:txBody>
          <a:bodyPr wrap="square" rtlCol="0" anchor="ctr"/>
          <a:lstStyle/>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Extension calendrier hot events (25 courses au lieu de 15)</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Digest newsletter hebdomadaire automatisé</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Cookie consent banner RGPD</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Page /live/[event-slug] agrégée par événement</a:t>
            </a:r>
            <a:endParaRPr lang="en-US" sz="1150" dirty="0"/>
          </a:p>
        </p:txBody>
      </p:sp>
      <p:sp>
        <p:nvSpPr>
          <p:cNvPr id="10" name="Shape 8"/>
          <p:cNvSpPr/>
          <p:nvPr/>
        </p:nvSpPr>
        <p:spPr>
          <a:xfrm>
            <a:off x="4389120" y="2057400"/>
            <a:ext cx="3566160" cy="4297680"/>
          </a:xfrm>
          <a:prstGeom prst="rect">
            <a:avLst/>
          </a:prstGeom>
          <a:solidFill>
            <a:srgbClr val="F8F9FF"/>
          </a:solidFill>
          <a:ln w="12700">
            <a:solidFill>
              <a:srgbClr val="E5EEFF"/>
            </a:solidFill>
            <a:prstDash val="solid"/>
          </a:ln>
        </p:spPr>
      </p:sp>
      <p:sp>
        <p:nvSpPr>
          <p:cNvPr id="11" name="Shape 9"/>
          <p:cNvSpPr/>
          <p:nvPr/>
        </p:nvSpPr>
        <p:spPr>
          <a:xfrm>
            <a:off x="4389120" y="2057400"/>
            <a:ext cx="3566160" cy="457200"/>
          </a:xfrm>
          <a:prstGeom prst="rect">
            <a:avLst/>
          </a:prstGeom>
          <a:solidFill>
            <a:srgbClr val="1E7293"/>
          </a:solidFill>
          <a:ln w="12700">
            <a:solidFill>
              <a:srgbClr val="1E7293"/>
            </a:solidFill>
            <a:prstDash val="solid"/>
          </a:ln>
        </p:spPr>
      </p:sp>
      <p:sp>
        <p:nvSpPr>
          <p:cNvPr id="12" name="Text 10"/>
          <p:cNvSpPr/>
          <p:nvPr/>
        </p:nvSpPr>
        <p:spPr>
          <a:xfrm>
            <a:off x="4389120" y="2130552"/>
            <a:ext cx="3566160" cy="320040"/>
          </a:xfrm>
          <a:prstGeom prst="rect">
            <a:avLst/>
          </a:prstGeom>
          <a:noFill/>
          <a:ln/>
        </p:spPr>
        <p:txBody>
          <a:bodyPr wrap="square" rtlCol="0" anchor="ctr"/>
          <a:lstStyle/>
          <a:p>
            <a:pPr algn="ctr" indent="0" marL="0">
              <a:buNone/>
            </a:pPr>
            <a:r>
              <a:rPr lang="en-US" sz="1300" b="1" spc="300" kern="0" dirty="0">
                <a:solidFill>
                  <a:srgbClr val="FFFFFF"/>
                </a:solidFill>
                <a:latin typeface="Georgia" pitchFamily="34" charset="0"/>
                <a:ea typeface="Georgia" pitchFamily="34" charset="-122"/>
                <a:cs typeface="Georgia" pitchFamily="34" charset="-120"/>
              </a:rPr>
              <a:t>MOYEN TERME (3 mois)</a:t>
            </a:r>
            <a:endParaRPr lang="en-US" sz="1300" dirty="0"/>
          </a:p>
        </p:txBody>
      </p:sp>
      <p:sp>
        <p:nvSpPr>
          <p:cNvPr id="13" name="Text 11"/>
          <p:cNvSpPr/>
          <p:nvPr/>
        </p:nvSpPr>
        <p:spPr>
          <a:xfrm>
            <a:off x="4663440" y="2834640"/>
            <a:ext cx="3017520" cy="3383280"/>
          </a:xfrm>
          <a:prstGeom prst="rect">
            <a:avLst/>
          </a:prstGeom>
          <a:noFill/>
          <a:ln/>
        </p:spPr>
        <p:txBody>
          <a:bodyPr wrap="square" rtlCol="0" anchor="ctr"/>
          <a:lstStyle/>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Pillar page n°2 'Guide premier ultra'</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Dashboard admin avec KPIs de production</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Rebalance auteurs rétroactif sur le corpus</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Backfill YouTube + externalRefs complet</a:t>
            </a:r>
            <a:endParaRPr lang="en-US" sz="1150" dirty="0"/>
          </a:p>
        </p:txBody>
      </p:sp>
      <p:sp>
        <p:nvSpPr>
          <p:cNvPr id="14" name="Shape 12"/>
          <p:cNvSpPr/>
          <p:nvPr/>
        </p:nvSpPr>
        <p:spPr>
          <a:xfrm>
            <a:off x="8138160" y="2057400"/>
            <a:ext cx="3566160" cy="4297680"/>
          </a:xfrm>
          <a:prstGeom prst="rect">
            <a:avLst/>
          </a:prstGeom>
          <a:solidFill>
            <a:srgbClr val="F8F9FF"/>
          </a:solidFill>
          <a:ln w="12700">
            <a:solidFill>
              <a:srgbClr val="E5EEFF"/>
            </a:solidFill>
            <a:prstDash val="solid"/>
          </a:ln>
        </p:spPr>
      </p:sp>
      <p:sp>
        <p:nvSpPr>
          <p:cNvPr id="15" name="Shape 13"/>
          <p:cNvSpPr/>
          <p:nvPr/>
        </p:nvSpPr>
        <p:spPr>
          <a:xfrm>
            <a:off x="8138160" y="2057400"/>
            <a:ext cx="3566160" cy="457200"/>
          </a:xfrm>
          <a:prstGeom prst="rect">
            <a:avLst/>
          </a:prstGeom>
          <a:solidFill>
            <a:srgbClr val="0B1C30"/>
          </a:solidFill>
          <a:ln w="12700">
            <a:solidFill>
              <a:srgbClr val="0B1C30"/>
            </a:solidFill>
            <a:prstDash val="solid"/>
          </a:ln>
        </p:spPr>
      </p:sp>
      <p:sp>
        <p:nvSpPr>
          <p:cNvPr id="16" name="Text 14"/>
          <p:cNvSpPr/>
          <p:nvPr/>
        </p:nvSpPr>
        <p:spPr>
          <a:xfrm>
            <a:off x="8138160" y="2130552"/>
            <a:ext cx="3566160" cy="320040"/>
          </a:xfrm>
          <a:prstGeom prst="rect">
            <a:avLst/>
          </a:prstGeom>
          <a:noFill/>
          <a:ln/>
        </p:spPr>
        <p:txBody>
          <a:bodyPr wrap="square" rtlCol="0" anchor="ctr"/>
          <a:lstStyle/>
          <a:p>
            <a:pPr algn="ctr" indent="0" marL="0">
              <a:buNone/>
            </a:pPr>
            <a:r>
              <a:rPr lang="en-US" sz="1300" b="1" spc="300" kern="0" dirty="0">
                <a:solidFill>
                  <a:srgbClr val="FFFFFF"/>
                </a:solidFill>
                <a:latin typeface="Georgia" pitchFamily="34" charset="0"/>
                <a:ea typeface="Georgia" pitchFamily="34" charset="-122"/>
                <a:cs typeface="Georgia" pitchFamily="34" charset="-120"/>
              </a:rPr>
              <a:t>LONG TERME (6 mois)</a:t>
            </a:r>
            <a:endParaRPr lang="en-US" sz="1300" dirty="0"/>
          </a:p>
        </p:txBody>
      </p:sp>
      <p:sp>
        <p:nvSpPr>
          <p:cNvPr id="17" name="Text 15"/>
          <p:cNvSpPr/>
          <p:nvPr/>
        </p:nvSpPr>
        <p:spPr>
          <a:xfrm>
            <a:off x="8412480" y="2834640"/>
            <a:ext cx="3017520" cy="3383280"/>
          </a:xfrm>
          <a:prstGeom prst="rect">
            <a:avLst/>
          </a:prstGeom>
          <a:noFill/>
          <a:ln/>
        </p:spPr>
        <p:txBody>
          <a:bodyPr wrap="square" rtlCol="0" anchor="ctr"/>
          <a:lstStyle/>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Coaching premium adaptatif (feature payante)</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Intégration Strava API pour le suivi terrain</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App mobile native (ou PWA enrichie)</a:t>
            </a:r>
            <a:endParaRPr lang="en-US" sz="1150" dirty="0"/>
          </a:p>
          <a:p>
            <a:pPr marL="342900" indent="-342900">
              <a:spcAft>
                <a:spcPts val="800"/>
              </a:spcAft>
              <a:buSzPct val="100000"/>
              <a:buChar char="•"/>
            </a:pPr>
            <a:r>
              <a:rPr lang="en-US" sz="1150" dirty="0">
                <a:solidFill>
                  <a:srgbClr val="0B1C30"/>
                </a:solidFill>
                <a:latin typeface="Calibri" pitchFamily="34" charset="0"/>
                <a:ea typeface="Calibri" pitchFamily="34" charset="-122"/>
                <a:cs typeface="Calibri" pitchFamily="34" charset="-120"/>
              </a:rPr>
              <a:t>Partenariats événements trail</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73152" cy="640080"/>
          </a:xfrm>
          <a:prstGeom prst="rect">
            <a:avLst/>
          </a:prstGeom>
          <a:solidFill>
            <a:srgbClr val="FF4500"/>
          </a:solidFill>
          <a:ln w="12700">
            <a:solidFill>
              <a:srgbClr val="FF4500"/>
            </a:solidFill>
            <a:prstDash val="solid"/>
          </a:ln>
        </p:spPr>
      </p:sp>
      <p:sp>
        <p:nvSpPr>
          <p:cNvPr id="3" name="Text 1"/>
          <p:cNvSpPr/>
          <p:nvPr/>
        </p:nvSpPr>
        <p:spPr>
          <a:xfrm>
            <a:off x="804672" y="502920"/>
            <a:ext cx="548640" cy="640080"/>
          </a:xfrm>
          <a:prstGeom prst="rect">
            <a:avLst/>
          </a:prstGeom>
          <a:noFill/>
          <a:ln/>
        </p:spPr>
        <p:txBody>
          <a:bodyPr wrap="square" rtlCol="0" anchor="ctr"/>
          <a:lstStyle/>
          <a:p>
            <a:pPr indent="0" marL="0">
              <a:buNone/>
            </a:pPr>
            <a:r>
              <a:rPr lang="en-US" sz="3000" b="1" dirty="0">
                <a:solidFill>
                  <a:srgbClr val="FF4500"/>
                </a:solidFill>
                <a:latin typeface="Georgia" pitchFamily="34" charset="0"/>
                <a:ea typeface="Georgia" pitchFamily="34" charset="-122"/>
                <a:cs typeface="Georgia" pitchFamily="34" charset="-120"/>
              </a:rPr>
              <a:t>12</a:t>
            </a:r>
            <a:endParaRPr lang="en-US" sz="3000" dirty="0"/>
          </a:p>
        </p:txBody>
      </p:sp>
      <p:sp>
        <p:nvSpPr>
          <p:cNvPr id="4" name="Text 2"/>
          <p:cNvSpPr/>
          <p:nvPr/>
        </p:nvSpPr>
        <p:spPr>
          <a:xfrm>
            <a:off x="1371600" y="685800"/>
            <a:ext cx="10058400" cy="320040"/>
          </a:xfrm>
          <a:prstGeom prst="rect">
            <a:avLst/>
          </a:prstGeom>
          <a:noFill/>
          <a:ln/>
        </p:spPr>
        <p:txBody>
          <a:bodyPr wrap="square" rtlCol="0" anchor="ctr"/>
          <a:lstStyle/>
          <a:p>
            <a:pPr indent="0" marL="0">
              <a:buNone/>
            </a:pPr>
            <a:r>
              <a:rPr lang="en-US" sz="1100" b="1" spc="500" kern="0" dirty="0">
                <a:solidFill>
                  <a:srgbClr val="0B1C30"/>
                </a:solidFill>
                <a:latin typeface="Calibri" pitchFamily="34" charset="0"/>
                <a:ea typeface="Calibri" pitchFamily="34" charset="-122"/>
                <a:cs typeface="Calibri" pitchFamily="34" charset="-120"/>
              </a:rPr>
              <a:t>RISQUES IDENTIFIÉS &amp; MITIGATIONS</a:t>
            </a:r>
            <a:endParaRPr lang="en-US" sz="1100" dirty="0"/>
          </a:p>
        </p:txBody>
      </p:sp>
      <p:sp>
        <p:nvSpPr>
          <p:cNvPr id="5" name="Text 3"/>
          <p:cNvSpPr/>
          <p:nvPr/>
        </p:nvSpPr>
        <p:spPr>
          <a:xfrm>
            <a:off x="640080" y="1417320"/>
            <a:ext cx="10972800" cy="457200"/>
          </a:xfrm>
          <a:prstGeom prst="rect">
            <a:avLst/>
          </a:prstGeom>
          <a:noFill/>
          <a:ln/>
        </p:spPr>
        <p:txBody>
          <a:bodyPr wrap="square" rtlCol="0" anchor="ctr"/>
          <a:lstStyle/>
          <a:p>
            <a:pPr indent="0" marL="0">
              <a:buNone/>
            </a:pPr>
            <a:r>
              <a:rPr lang="en-US" sz="2200" b="1" dirty="0">
                <a:solidFill>
                  <a:srgbClr val="0B1C30"/>
                </a:solidFill>
                <a:latin typeface="Georgia" pitchFamily="34" charset="0"/>
                <a:ea typeface="Georgia" pitchFamily="34" charset="-122"/>
                <a:cs typeface="Georgia" pitchFamily="34" charset="-120"/>
              </a:rPr>
              <a:t>Cartographie des risques opérationnels et éditoriaux</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72800" cy="914400"/>
        </p:xfrm>
        <a:graphic>
          <a:graphicData uri="http://schemas.openxmlformats.org/drawingml/2006/table">
            <a:tbl>
              <a:tblPr/>
              <a:tblGrid>
                <a:gridCol w="3200400"/>
                <a:gridCol w="1645920"/>
                <a:gridCol w="612648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Risque</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Probabilité</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Mitigation en place</a:t>
                      </a:r>
                      <a:endParaRPr lang="en-US" sz="12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0B1C30"/>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Content farm perçu par Google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algn="ctr" indent="0" marL="0">
                        <a:buNone/>
                      </a:pPr>
                      <a:r>
                        <a:rPr lang="en-US" sz="1100" b="1" dirty="0">
                          <a:solidFill>
                            <a:srgbClr val="DC6B04"/>
                          </a:solidFill>
                          <a:latin typeface="Calibri" pitchFamily="34" charset="0"/>
                          <a:ea typeface="Calibri" pitchFamily="34" charset="-122"/>
                          <a:cs typeface="Calibri" pitchFamily="34" charset="-120"/>
                        </a:rPr>
                        <a:t>Moyen</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Cap 5/jour fixe, reformulation systématique, sources citées, charte publique.</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Coûts Anthropic escalatoires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C6B04"/>
                          </a:solidFill>
                          <a:latin typeface="Calibri" pitchFamily="34" charset="0"/>
                          <a:ea typeface="Calibri" pitchFamily="34" charset="-122"/>
                          <a:cs typeface="Calibri" pitchFamily="34" charset="-120"/>
                        </a:rPr>
                        <a:t>Moyen</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Cap quotidien limite le débit. Modèle variable mensuel max 80 €.</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Sources RSS qui ferment / changent</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algn="ctr" indent="0" marL="0">
                        <a:buNone/>
                      </a:pPr>
                      <a:r>
                        <a:rPr lang="en-US" sz="1100" b="1" dirty="0">
                          <a:solidFill>
                            <a:srgbClr val="059669"/>
                          </a:solidFill>
                          <a:latin typeface="Calibri" pitchFamily="34" charset="0"/>
                          <a:ea typeface="Calibri" pitchFamily="34" charset="-122"/>
                          <a:cs typeface="Calibri" pitchFamily="34" charset="-120"/>
                        </a:rPr>
                        <a:t>Faible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21 sources, redondance importante. Un flux HS = pipeline continue.</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Hallucinations Claude sur les faits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latin typeface="Calibri" pitchFamily="34" charset="0"/>
                          <a:ea typeface="Calibri" pitchFamily="34" charset="-122"/>
                          <a:cs typeface="Calibri" pitchFamily="34" charset="-120"/>
                        </a:rPr>
                        <a:t>Faible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Whitelist 30 domaines externes, ping HTTP 200 avant commit.</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Invalidation Publisher Center</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algn="ctr" indent="0" marL="0">
                        <a:buNone/>
                      </a:pPr>
                      <a:r>
                        <a:rPr lang="en-US" sz="1100" b="1" dirty="0">
                          <a:solidFill>
                            <a:srgbClr val="059669"/>
                          </a:solidFill>
                          <a:latin typeface="Calibri" pitchFamily="34" charset="0"/>
                          <a:ea typeface="Calibri" pitchFamily="34" charset="-122"/>
                          <a:cs typeface="Calibri" pitchFamily="34" charset="-120"/>
                        </a:rPr>
                        <a:t>Faible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E-E-A-T renforcé : auteurs, charte, transparence IA, expertise assumée.</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Dépendance à Tavily</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059669"/>
                          </a:solidFill>
                          <a:latin typeface="Calibri" pitchFamily="34" charset="0"/>
                          <a:ea typeface="Calibri" pitchFamily="34" charset="-122"/>
                          <a:cs typeface="Calibri" pitchFamily="34" charset="-120"/>
                        </a:rPr>
                        <a:t>Faible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Pipeline RSS indépendante fonctionne seule si Tavily KO.</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Panne Vercel / Supabase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algn="ctr" indent="0" marL="0">
                        <a:buNone/>
                      </a:pPr>
                      <a:r>
                        <a:rPr lang="en-US" sz="1100" b="1" dirty="0">
                          <a:solidFill>
                            <a:srgbClr val="047857"/>
                          </a:solidFill>
                          <a:latin typeface="Calibri" pitchFamily="34" charset="0"/>
                          <a:ea typeface="Calibri" pitchFamily="34" charset="-122"/>
                          <a:cs typeface="Calibri" pitchFamily="34" charset="-120"/>
                        </a:rPr>
                        <a:t>Très faible</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Providers top-tier, SLA commerciaux. Pas de single point of failure métier.</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8F9FF"/>
                    </a:solidFill>
                  </a:tcPr>
                </a:tc>
              </a:tr>
              <a:tr h="365760">
                <a:tc>
                  <a:txBody>
                    <a:bodyPr/>
                    <a:lstStyle/>
                    <a:p>
                      <a:pPr indent="0" marL="0">
                        <a:buNone/>
                      </a:pPr>
                      <a:r>
                        <a:rPr lang="en-US" sz="1100" b="1" dirty="0">
                          <a:solidFill>
                            <a:srgbClr val="0B1C30"/>
                          </a:solidFill>
                          <a:latin typeface="Calibri" pitchFamily="34" charset="0"/>
                          <a:ea typeface="Calibri" pitchFamily="34" charset="-122"/>
                          <a:cs typeface="Calibri" pitchFamily="34" charset="-120"/>
                        </a:rPr>
                        <a:t>Mise à jour dates hot events</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DC6B04"/>
                          </a:solidFill>
                          <a:latin typeface="Calibri" pitchFamily="34" charset="0"/>
                          <a:ea typeface="Calibri" pitchFamily="34" charset="-122"/>
                          <a:cs typeface="Calibri" pitchFamily="34" charset="-120"/>
                        </a:rPr>
                        <a:t>Moyen</a:t>
                      </a:r>
                      <a:endParaRPr lang="en-US" sz="110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c>
                  <a:txBody>
                    <a:bodyPr/>
                    <a:lstStyle/>
                    <a:p>
                      <a:pPr indent="0" marL="0">
                        <a:buNone/>
                      </a:pPr>
                      <a:r>
                        <a:rPr lang="en-US" sz="1050" dirty="0">
                          <a:solidFill>
                            <a:srgbClr val="5A6A80"/>
                          </a:solidFill>
                          <a:latin typeface="Calibri" pitchFamily="34" charset="0"/>
                          <a:ea typeface="Calibri" pitchFamily="34" charset="-122"/>
                          <a:cs typeface="Calibri" pitchFamily="34" charset="-120"/>
                        </a:rPr>
                        <a:t>Calendrier à actualiser chaque année. Documenté dans BACKLOG.md.</a:t>
                      </a:r>
                      <a:endParaRPr lang="en-US" sz="1050" dirty="0">
                        <a:latin typeface="Calibri" charset="0"/>
                        <a:ea typeface="Calibri" charset="0"/>
                        <a:cs typeface="Calibri" charset="0"/>
                      </a:endParaRPr>
                    </a:p>
                  </a:txBody>
                  <a:tcPr marL="91440" marR="91440" marT="45720" marB="45720">
                    <a:lnL w="6350" cap="flat" cmpd="sng" algn="ctr">
                      <a:solidFill>
                        <a:srgbClr val="E5EEFF"/>
                      </a:solidFill>
                      <a:prstDash val="solid"/>
                      <a:round/>
                      <a:headEnd type="none" w="med" len="med"/>
                      <a:tailEnd type="none" w="med" len="med"/>
                    </a:lnL>
                    <a:lnR w="6350" cap="flat" cmpd="sng" algn="ctr">
                      <a:solidFill>
                        <a:srgbClr val="E5EEFF"/>
                      </a:solidFill>
                      <a:prstDash val="solid"/>
                      <a:round/>
                      <a:headEnd type="none" w="med" len="med"/>
                      <a:tailEnd type="none" w="med" len="med"/>
                    </a:lnR>
                    <a:lnT w="6350" cap="flat" cmpd="sng" algn="ctr">
                      <a:solidFill>
                        <a:srgbClr val="E5EEFF"/>
                      </a:solidFill>
                      <a:prstDash val="solid"/>
                      <a:round/>
                      <a:headEnd type="none" w="med" len="med"/>
                      <a:tailEnd type="none" w="med" len="med"/>
                    </a:lnT>
                    <a:lnB w="6350" cap="flat" cmpd="sng" algn="ctr">
                      <a:solidFill>
                        <a:srgbClr val="E5EEF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C30"/>
        </a:solidFill>
      </p:bgPr>
    </p:bg>
    <p:spTree>
      <p:nvGrpSpPr>
        <p:cNvPr id="1" name=""/>
        <p:cNvGrpSpPr/>
        <p:nvPr/>
      </p:nvGrpSpPr>
      <p:grpSpPr>
        <a:xfrm>
          <a:off x="0" y="0"/>
          <a:ext cx="0" cy="0"/>
          <a:chOff x="0" y="0"/>
          <a:chExt cx="0" cy="0"/>
        </a:xfrm>
      </p:grpSpPr>
      <p:sp>
        <p:nvSpPr>
          <p:cNvPr id="2" name="Shape 0"/>
          <p:cNvSpPr/>
          <p:nvPr/>
        </p:nvSpPr>
        <p:spPr>
          <a:xfrm>
            <a:off x="640080" y="548640"/>
            <a:ext cx="109728" cy="640080"/>
          </a:xfrm>
          <a:prstGeom prst="rect">
            <a:avLst/>
          </a:prstGeom>
          <a:solidFill>
            <a:srgbClr val="FF4500"/>
          </a:solidFill>
          <a:ln w="12700">
            <a:solidFill>
              <a:srgbClr val="FF4500"/>
            </a:solidFill>
            <a:prstDash val="solid"/>
          </a:ln>
        </p:spPr>
      </p:sp>
      <p:sp>
        <p:nvSpPr>
          <p:cNvPr id="3" name="Text 1"/>
          <p:cNvSpPr/>
          <p:nvPr/>
        </p:nvSpPr>
        <p:spPr>
          <a:xfrm>
            <a:off x="914400" y="548640"/>
            <a:ext cx="9144000" cy="457200"/>
          </a:xfrm>
          <a:prstGeom prst="rect">
            <a:avLst/>
          </a:prstGeom>
          <a:noFill/>
          <a:ln/>
        </p:spPr>
        <p:txBody>
          <a:bodyPr wrap="square" rtlCol="0" anchor="ctr"/>
          <a:lstStyle/>
          <a:p>
            <a:pPr indent="0" marL="0">
              <a:buNone/>
            </a:pPr>
            <a:r>
              <a:rPr lang="en-US" sz="1400" b="1" spc="600" kern="0" dirty="0">
                <a:solidFill>
                  <a:srgbClr val="FF4500"/>
                </a:solidFill>
                <a:latin typeface="Georgia" pitchFamily="34" charset="0"/>
                <a:ea typeface="Georgia" pitchFamily="34" charset="-122"/>
                <a:cs typeface="Georgia" pitchFamily="34" charset="-120"/>
              </a:rPr>
              <a:t>SYNTHÈSE</a:t>
            </a:r>
            <a:endParaRPr lang="en-US" sz="1400" dirty="0"/>
          </a:p>
        </p:txBody>
      </p:sp>
      <p:sp>
        <p:nvSpPr>
          <p:cNvPr id="4" name="Text 2"/>
          <p:cNvSpPr/>
          <p:nvPr/>
        </p:nvSpPr>
        <p:spPr>
          <a:xfrm>
            <a:off x="640080" y="1371600"/>
            <a:ext cx="10972800" cy="182880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Altitude Trail est un site éditorial</a:t>
            </a:r>
            <a:endParaRPr lang="en-US" sz="4400" dirty="0"/>
          </a:p>
          <a:p>
            <a:pPr indent="0" marL="0">
              <a:buNone/>
            </a:pPr>
            <a:r>
              <a:rPr lang="en-US" sz="4400" b="1" dirty="0">
                <a:solidFill>
                  <a:srgbClr val="FFFFFF"/>
                </a:solidFill>
                <a:latin typeface="Georgia" pitchFamily="34" charset="0"/>
                <a:ea typeface="Georgia" pitchFamily="34" charset="-122"/>
                <a:cs typeface="Georgia" pitchFamily="34" charset="-120"/>
              </a:rPr>
              <a:t>de niveau presse professionnelle.</a:t>
            </a:r>
            <a:endParaRPr lang="en-US" sz="4400" dirty="0"/>
          </a:p>
        </p:txBody>
      </p:sp>
      <p:sp>
        <p:nvSpPr>
          <p:cNvPr id="5" name="Shape 3"/>
          <p:cNvSpPr/>
          <p:nvPr/>
        </p:nvSpPr>
        <p:spPr>
          <a:xfrm>
            <a:off x="640080" y="3566160"/>
            <a:ext cx="2651760" cy="1554480"/>
          </a:xfrm>
          <a:prstGeom prst="rect">
            <a:avLst/>
          </a:prstGeom>
          <a:solidFill>
            <a:srgbClr val="1A2F47"/>
          </a:solidFill>
          <a:ln w="12700">
            <a:solidFill>
              <a:srgbClr val="1A2F47"/>
            </a:solidFill>
            <a:prstDash val="solid"/>
          </a:ln>
        </p:spPr>
      </p:sp>
      <p:sp>
        <p:nvSpPr>
          <p:cNvPr id="6" name="Shape 4"/>
          <p:cNvSpPr/>
          <p:nvPr/>
        </p:nvSpPr>
        <p:spPr>
          <a:xfrm>
            <a:off x="640080" y="5047488"/>
            <a:ext cx="2651760" cy="73152"/>
          </a:xfrm>
          <a:prstGeom prst="rect">
            <a:avLst/>
          </a:prstGeom>
          <a:solidFill>
            <a:srgbClr val="FF4500"/>
          </a:solidFill>
          <a:ln w="12700">
            <a:solidFill>
              <a:srgbClr val="FF4500"/>
            </a:solidFill>
            <a:prstDash val="solid"/>
          </a:ln>
        </p:spPr>
      </p:sp>
      <p:sp>
        <p:nvSpPr>
          <p:cNvPr id="7" name="Text 5"/>
          <p:cNvSpPr/>
          <p:nvPr/>
        </p:nvSpPr>
        <p:spPr>
          <a:xfrm>
            <a:off x="640080" y="3749040"/>
            <a:ext cx="2651760" cy="640080"/>
          </a:xfrm>
          <a:prstGeom prst="rect">
            <a:avLst/>
          </a:prstGeom>
          <a:noFill/>
          <a:ln/>
        </p:spPr>
        <p:txBody>
          <a:bodyPr wrap="square" rtlCol="0" anchor="ctr"/>
          <a:lstStyle/>
          <a:p>
            <a:pPr algn="ctr" indent="0" marL="0">
              <a:buNone/>
            </a:pPr>
            <a:r>
              <a:rPr lang="en-US" sz="4000" b="1" dirty="0">
                <a:solidFill>
                  <a:srgbClr val="FF4500"/>
                </a:solidFill>
                <a:latin typeface="Georgia" pitchFamily="34" charset="0"/>
                <a:ea typeface="Georgia" pitchFamily="34" charset="-122"/>
                <a:cs typeface="Georgia" pitchFamily="34" charset="-120"/>
              </a:rPr>
              <a:t>100%</a:t>
            </a:r>
            <a:endParaRPr lang="en-US" sz="4000" dirty="0"/>
          </a:p>
        </p:txBody>
      </p:sp>
      <p:sp>
        <p:nvSpPr>
          <p:cNvPr id="8" name="Text 6"/>
          <p:cNvSpPr/>
          <p:nvPr/>
        </p:nvSpPr>
        <p:spPr>
          <a:xfrm>
            <a:off x="640080" y="4434840"/>
            <a:ext cx="2651760" cy="640080"/>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pipelines automatisés</a:t>
            </a:r>
            <a:endParaRPr lang="en-US" sz="1100" dirty="0"/>
          </a:p>
          <a:p>
            <a:pPr algn="ctr" indent="0" marL="0">
              <a:buNone/>
            </a:pPr>
            <a:r>
              <a:rPr lang="en-US" sz="1100" dirty="0">
                <a:solidFill>
                  <a:srgbClr val="CBD5E1"/>
                </a:solidFill>
                <a:latin typeface="Calibri" pitchFamily="34" charset="0"/>
                <a:ea typeface="Calibri" pitchFamily="34" charset="-122"/>
                <a:cs typeface="Calibri" pitchFamily="34" charset="-120"/>
              </a:rPr>
              <a:t>RSS + Tavily + publication</a:t>
            </a:r>
            <a:endParaRPr lang="en-US" sz="1100" dirty="0"/>
          </a:p>
        </p:txBody>
      </p:sp>
      <p:sp>
        <p:nvSpPr>
          <p:cNvPr id="9" name="Shape 7"/>
          <p:cNvSpPr/>
          <p:nvPr/>
        </p:nvSpPr>
        <p:spPr>
          <a:xfrm>
            <a:off x="3456432" y="3566160"/>
            <a:ext cx="2651760" cy="1554480"/>
          </a:xfrm>
          <a:prstGeom prst="rect">
            <a:avLst/>
          </a:prstGeom>
          <a:solidFill>
            <a:srgbClr val="1A2F47"/>
          </a:solidFill>
          <a:ln w="12700">
            <a:solidFill>
              <a:srgbClr val="1A2F47"/>
            </a:solidFill>
            <a:prstDash val="solid"/>
          </a:ln>
        </p:spPr>
      </p:sp>
      <p:sp>
        <p:nvSpPr>
          <p:cNvPr id="10" name="Shape 8"/>
          <p:cNvSpPr/>
          <p:nvPr/>
        </p:nvSpPr>
        <p:spPr>
          <a:xfrm>
            <a:off x="3456432" y="5047488"/>
            <a:ext cx="2651760" cy="73152"/>
          </a:xfrm>
          <a:prstGeom prst="rect">
            <a:avLst/>
          </a:prstGeom>
          <a:solidFill>
            <a:srgbClr val="FF4500"/>
          </a:solidFill>
          <a:ln w="12700">
            <a:solidFill>
              <a:srgbClr val="FF4500"/>
            </a:solidFill>
            <a:prstDash val="solid"/>
          </a:ln>
        </p:spPr>
      </p:sp>
      <p:sp>
        <p:nvSpPr>
          <p:cNvPr id="11" name="Text 9"/>
          <p:cNvSpPr/>
          <p:nvPr/>
        </p:nvSpPr>
        <p:spPr>
          <a:xfrm>
            <a:off x="3456432" y="3749040"/>
            <a:ext cx="2651760" cy="640080"/>
          </a:xfrm>
          <a:prstGeom prst="rect">
            <a:avLst/>
          </a:prstGeom>
          <a:noFill/>
          <a:ln/>
        </p:spPr>
        <p:txBody>
          <a:bodyPr wrap="square" rtlCol="0" anchor="ctr"/>
          <a:lstStyle/>
          <a:p>
            <a:pPr algn="ctr" indent="0" marL="0">
              <a:buNone/>
            </a:pPr>
            <a:r>
              <a:rPr lang="en-US" sz="4000" b="1" dirty="0">
                <a:solidFill>
                  <a:srgbClr val="FF4500"/>
                </a:solidFill>
                <a:latin typeface="Georgia" pitchFamily="34" charset="0"/>
                <a:ea typeface="Georgia" pitchFamily="34" charset="-122"/>
                <a:cs typeface="Georgia" pitchFamily="34" charset="-120"/>
              </a:rPr>
              <a:t>12</a:t>
            </a:r>
            <a:endParaRPr lang="en-US" sz="4000" dirty="0"/>
          </a:p>
        </p:txBody>
      </p:sp>
      <p:sp>
        <p:nvSpPr>
          <p:cNvPr id="12" name="Text 10"/>
          <p:cNvSpPr/>
          <p:nvPr/>
        </p:nvSpPr>
        <p:spPr>
          <a:xfrm>
            <a:off x="3456432" y="4434840"/>
            <a:ext cx="2651760" cy="640080"/>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types JSON-LD émis</a:t>
            </a:r>
            <a:endParaRPr lang="en-US" sz="1100" dirty="0"/>
          </a:p>
          <a:p>
            <a:pPr algn="ctr" indent="0" marL="0">
              <a:buNone/>
            </a:pPr>
            <a:r>
              <a:rPr lang="en-US" sz="1100" dirty="0">
                <a:solidFill>
                  <a:srgbClr val="CBD5E1"/>
                </a:solidFill>
                <a:latin typeface="Calibri" pitchFamily="34" charset="0"/>
                <a:ea typeface="Calibri" pitchFamily="34" charset="-122"/>
                <a:cs typeface="Calibri" pitchFamily="34" charset="-120"/>
              </a:rPr>
              <a:t>Rich Results validés</a:t>
            </a:r>
            <a:endParaRPr lang="en-US" sz="1100" dirty="0"/>
          </a:p>
        </p:txBody>
      </p:sp>
      <p:sp>
        <p:nvSpPr>
          <p:cNvPr id="13" name="Shape 11"/>
          <p:cNvSpPr/>
          <p:nvPr/>
        </p:nvSpPr>
        <p:spPr>
          <a:xfrm>
            <a:off x="6272784" y="3566160"/>
            <a:ext cx="2651760" cy="1554480"/>
          </a:xfrm>
          <a:prstGeom prst="rect">
            <a:avLst/>
          </a:prstGeom>
          <a:solidFill>
            <a:srgbClr val="1A2F47"/>
          </a:solidFill>
          <a:ln w="12700">
            <a:solidFill>
              <a:srgbClr val="1A2F47"/>
            </a:solidFill>
            <a:prstDash val="solid"/>
          </a:ln>
        </p:spPr>
      </p:sp>
      <p:sp>
        <p:nvSpPr>
          <p:cNvPr id="14" name="Shape 12"/>
          <p:cNvSpPr/>
          <p:nvPr/>
        </p:nvSpPr>
        <p:spPr>
          <a:xfrm>
            <a:off x="6272784" y="5047488"/>
            <a:ext cx="2651760" cy="73152"/>
          </a:xfrm>
          <a:prstGeom prst="rect">
            <a:avLst/>
          </a:prstGeom>
          <a:solidFill>
            <a:srgbClr val="FF4500"/>
          </a:solidFill>
          <a:ln w="12700">
            <a:solidFill>
              <a:srgbClr val="FF4500"/>
            </a:solidFill>
            <a:prstDash val="solid"/>
          </a:ln>
        </p:spPr>
      </p:sp>
      <p:sp>
        <p:nvSpPr>
          <p:cNvPr id="15" name="Text 13"/>
          <p:cNvSpPr/>
          <p:nvPr/>
        </p:nvSpPr>
        <p:spPr>
          <a:xfrm>
            <a:off x="6272784" y="3749040"/>
            <a:ext cx="2651760" cy="640080"/>
          </a:xfrm>
          <a:prstGeom prst="rect">
            <a:avLst/>
          </a:prstGeom>
          <a:noFill/>
          <a:ln/>
        </p:spPr>
        <p:txBody>
          <a:bodyPr wrap="square" rtlCol="0" anchor="ctr"/>
          <a:lstStyle/>
          <a:p>
            <a:pPr algn="ctr" indent="0" marL="0">
              <a:buNone/>
            </a:pPr>
            <a:r>
              <a:rPr lang="en-US" sz="4000" b="1" dirty="0">
                <a:solidFill>
                  <a:srgbClr val="FF4500"/>
                </a:solidFill>
                <a:latin typeface="Georgia" pitchFamily="34" charset="0"/>
                <a:ea typeface="Georgia" pitchFamily="34" charset="-122"/>
                <a:cs typeface="Georgia" pitchFamily="34" charset="-120"/>
              </a:rPr>
              <a:t>5/j</a:t>
            </a:r>
            <a:endParaRPr lang="en-US" sz="4000" dirty="0"/>
          </a:p>
        </p:txBody>
      </p:sp>
      <p:sp>
        <p:nvSpPr>
          <p:cNvPr id="16" name="Text 14"/>
          <p:cNvSpPr/>
          <p:nvPr/>
        </p:nvSpPr>
        <p:spPr>
          <a:xfrm>
            <a:off x="6272784" y="4434840"/>
            <a:ext cx="2651760" cy="640080"/>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articles/jour max</a:t>
            </a:r>
            <a:endParaRPr lang="en-US" sz="1100" dirty="0"/>
          </a:p>
          <a:p>
            <a:pPr algn="ctr" indent="0" marL="0">
              <a:buNone/>
            </a:pPr>
            <a:r>
              <a:rPr lang="en-US" sz="1100" dirty="0">
                <a:solidFill>
                  <a:srgbClr val="CBD5E1"/>
                </a:solidFill>
                <a:latin typeface="Calibri" pitchFamily="34" charset="0"/>
                <a:ea typeface="Calibri" pitchFamily="34" charset="-122"/>
                <a:cs typeface="Calibri" pitchFamily="34" charset="-120"/>
              </a:rPr>
              <a:t>cap dynamique à 10 en live</a:t>
            </a:r>
            <a:endParaRPr lang="en-US" sz="1100" dirty="0"/>
          </a:p>
        </p:txBody>
      </p:sp>
      <p:sp>
        <p:nvSpPr>
          <p:cNvPr id="17" name="Shape 15"/>
          <p:cNvSpPr/>
          <p:nvPr/>
        </p:nvSpPr>
        <p:spPr>
          <a:xfrm>
            <a:off x="9089136" y="3566160"/>
            <a:ext cx="2651760" cy="1554480"/>
          </a:xfrm>
          <a:prstGeom prst="rect">
            <a:avLst/>
          </a:prstGeom>
          <a:solidFill>
            <a:srgbClr val="1A2F47"/>
          </a:solidFill>
          <a:ln w="12700">
            <a:solidFill>
              <a:srgbClr val="1A2F47"/>
            </a:solidFill>
            <a:prstDash val="solid"/>
          </a:ln>
        </p:spPr>
      </p:sp>
      <p:sp>
        <p:nvSpPr>
          <p:cNvPr id="18" name="Shape 16"/>
          <p:cNvSpPr/>
          <p:nvPr/>
        </p:nvSpPr>
        <p:spPr>
          <a:xfrm>
            <a:off x="9089136" y="5047488"/>
            <a:ext cx="2651760" cy="73152"/>
          </a:xfrm>
          <a:prstGeom prst="rect">
            <a:avLst/>
          </a:prstGeom>
          <a:solidFill>
            <a:srgbClr val="FF4500"/>
          </a:solidFill>
          <a:ln w="12700">
            <a:solidFill>
              <a:srgbClr val="FF4500"/>
            </a:solidFill>
            <a:prstDash val="solid"/>
          </a:ln>
        </p:spPr>
      </p:sp>
      <p:sp>
        <p:nvSpPr>
          <p:cNvPr id="19" name="Text 17"/>
          <p:cNvSpPr/>
          <p:nvPr/>
        </p:nvSpPr>
        <p:spPr>
          <a:xfrm>
            <a:off x="9089136" y="3749040"/>
            <a:ext cx="2651760" cy="640080"/>
          </a:xfrm>
          <a:prstGeom prst="rect">
            <a:avLst/>
          </a:prstGeom>
          <a:noFill/>
          <a:ln/>
        </p:spPr>
        <p:txBody>
          <a:bodyPr wrap="square" rtlCol="0" anchor="ctr"/>
          <a:lstStyle/>
          <a:p>
            <a:pPr algn="ctr" indent="0" marL="0">
              <a:buNone/>
            </a:pPr>
            <a:r>
              <a:rPr lang="en-US" sz="4000" b="1" dirty="0">
                <a:solidFill>
                  <a:srgbClr val="FF4500"/>
                </a:solidFill>
                <a:latin typeface="Georgia" pitchFamily="34" charset="0"/>
                <a:ea typeface="Georgia" pitchFamily="34" charset="-122"/>
                <a:cs typeface="Georgia" pitchFamily="34" charset="-120"/>
              </a:rPr>
              <a:t>~100€</a:t>
            </a:r>
            <a:endParaRPr lang="en-US" sz="4000" dirty="0"/>
          </a:p>
        </p:txBody>
      </p:sp>
      <p:sp>
        <p:nvSpPr>
          <p:cNvPr id="20" name="Text 18"/>
          <p:cNvSpPr/>
          <p:nvPr/>
        </p:nvSpPr>
        <p:spPr>
          <a:xfrm>
            <a:off x="9089136" y="4434840"/>
            <a:ext cx="2651760" cy="640080"/>
          </a:xfrm>
          <a:prstGeom prst="rect">
            <a:avLst/>
          </a:prstGeom>
          <a:noFill/>
          <a:ln/>
        </p:spPr>
        <p:txBody>
          <a:bodyPr wrap="square" rtlCol="0" anchor="ctr"/>
          <a:lstStyle/>
          <a:p>
            <a:pPr algn="ctr" indent="0" marL="0">
              <a:buNone/>
            </a:pPr>
            <a:r>
              <a:rPr lang="en-US" sz="1100" dirty="0">
                <a:solidFill>
                  <a:srgbClr val="CBD5E1"/>
                </a:solidFill>
                <a:latin typeface="Calibri" pitchFamily="34" charset="0"/>
                <a:ea typeface="Calibri" pitchFamily="34" charset="-122"/>
                <a:cs typeface="Calibri" pitchFamily="34" charset="-120"/>
              </a:rPr>
              <a:t>budget mensuel</a:t>
            </a:r>
            <a:endParaRPr lang="en-US" sz="1100" dirty="0"/>
          </a:p>
          <a:p>
            <a:pPr algn="ctr" indent="0" marL="0">
              <a:buNone/>
            </a:pPr>
            <a:r>
              <a:rPr lang="en-US" sz="1100" dirty="0">
                <a:solidFill>
                  <a:srgbClr val="CBD5E1"/>
                </a:solidFill>
                <a:latin typeface="Calibri" pitchFamily="34" charset="0"/>
                <a:ea typeface="Calibri" pitchFamily="34" charset="-122"/>
                <a:cs typeface="Calibri" pitchFamily="34" charset="-120"/>
              </a:rPr>
              <a:t>stack complet + API</a:t>
            </a:r>
            <a:endParaRPr lang="en-US" sz="1100" dirty="0"/>
          </a:p>
        </p:txBody>
      </p:sp>
      <p:sp>
        <p:nvSpPr>
          <p:cNvPr id="21" name="Text 19"/>
          <p:cNvSpPr/>
          <p:nvPr/>
        </p:nvSpPr>
        <p:spPr>
          <a:xfrm>
            <a:off x="640080" y="5577840"/>
            <a:ext cx="10972800" cy="274320"/>
          </a:xfrm>
          <a:prstGeom prst="rect">
            <a:avLst/>
          </a:prstGeom>
          <a:noFill/>
          <a:ln/>
        </p:spPr>
        <p:txBody>
          <a:bodyPr wrap="square" rtlCol="0" anchor="ctr"/>
          <a:lstStyle/>
          <a:p>
            <a:pPr algn="ctr" indent="0" marL="0">
              <a:buNone/>
            </a:pPr>
            <a:r>
              <a:rPr lang="en-US" sz="1100" i="1" dirty="0">
                <a:solidFill>
                  <a:srgbClr val="8A9BB5"/>
                </a:solidFill>
                <a:latin typeface="Calibri" pitchFamily="34" charset="0"/>
                <a:ea typeface="Calibri" pitchFamily="34" charset="-122"/>
                <a:cs typeface="Calibri" pitchFamily="34" charset="-120"/>
              </a:rPr>
              <a:t>Documentation détaillée de la codebase et des pipelines dans /docs/BACKLOG.md — à jour.</a:t>
            </a:r>
            <a:endParaRPr lang="en-US" sz="1100" dirty="0"/>
          </a:p>
        </p:txBody>
      </p:sp>
      <p:sp>
        <p:nvSpPr>
          <p:cNvPr id="22" name="Text 20"/>
          <p:cNvSpPr/>
          <p:nvPr/>
        </p:nvSpPr>
        <p:spPr>
          <a:xfrm>
            <a:off x="640080" y="6035040"/>
            <a:ext cx="10972800" cy="640080"/>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Merci</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Altitude Trail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Altitude Trail — Présentation technique et fonctionnelle</dc:title>
  <dc:subject>PptxGenJS Presentation</dc:subject>
  <dc:creator>Altitude Trail</dc:creator>
  <cp:lastModifiedBy>Altitude Trail</cp:lastModifiedBy>
  <cp:revision>1</cp:revision>
  <dcterms:created xsi:type="dcterms:W3CDTF">2026-04-23T07:10:09Z</dcterms:created>
  <dcterms:modified xsi:type="dcterms:W3CDTF">2026-04-23T07:10:09Z</dcterms:modified>
</cp:coreProperties>
</file>